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Why This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87168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93C5FD"/>
                </a:solidFill>
              </a:rPr>
              <a:t>When Training Didn't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1363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</a:rPr>
              <a:t>Relational Performance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622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</a:rPr>
              <a:t>Andrew Houser  |  Advisory &amp; Implementation Orchestration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Relational Performance Advisory  |  Andrew Houser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WHY STANDARD APPROACHES FALL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</a:rPr>
              <a:t>Training teaches what managers know.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The patterns driving your turnover operate below that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5376672" cy="431596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Standard Training Assumed: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01091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•  Managers need better skills and scripts</a:t>
            </a:r>
          </a:p>
          <a:p>
            <a:r>
              <a:rPr sz="1300">
                <a:solidFill>
                  <a:srgbClr val="1F2937"/>
                </a:solidFill>
              </a:rPr>
              <a:t>•  Knowledge gained in training transfers to behavior under pressure</a:t>
            </a:r>
          </a:p>
          <a:p>
            <a:r>
              <a:rPr sz="1300">
                <a:solidFill>
                  <a:srgbClr val="1F2937"/>
                </a:solidFill>
              </a:rPr>
              <a:t>•  The problem is information deficit — they don't know what to do</a:t>
            </a:r>
          </a:p>
          <a:p>
            <a:r>
              <a:rPr sz="1300">
                <a:solidFill>
                  <a:srgbClr val="1F2937"/>
                </a:solidFill>
              </a:rPr>
              <a:t>•  The same program works for every leader</a:t>
            </a:r>
          </a:p>
          <a:p>
            <a:r>
              <a:rPr sz="1300">
                <a:solidFill>
                  <a:srgbClr val="1F2937"/>
                </a:solidFill>
              </a:rPr>
              <a:t>•  Result: looks like it's working while you're watching; reverts when you're not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719072"/>
            <a:ext cx="5376672" cy="431596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65376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What's Actually Happening: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86000"/>
            <a:ext cx="5010912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•  Managers already know what to do — the pattern overrides that when pressure hits</a:t>
            </a:r>
          </a:p>
          <a:p>
            <a:r>
              <a:rPr sz="1300">
                <a:solidFill>
                  <a:srgbClr val="1F2937"/>
                </a:solidFill>
              </a:rPr>
              <a:t>•  Skills trained in calm conditions go offline under activation (Perry/neuroscience)</a:t>
            </a:r>
          </a:p>
          <a:p>
            <a:r>
              <a:rPr sz="1300">
                <a:solidFill>
                  <a:srgbClr val="1F2937"/>
                </a:solidFill>
              </a:rPr>
              <a:t>•  The problem is an implicit behavioral pattern running below conscious access</a:t>
            </a:r>
          </a:p>
          <a:p>
            <a:r>
              <a:rPr sz="1300">
                <a:solidFill>
                  <a:srgbClr val="1F2937"/>
                </a:solidFill>
              </a:rPr>
              <a:t>•  Each leader's pattern has a different trigger, cost, and development path</a:t>
            </a:r>
          </a:p>
          <a:p>
            <a:r>
              <a:rPr sz="1300">
                <a:solidFill>
                  <a:srgbClr val="1F2937"/>
                </a:solidFill>
              </a:rPr>
              <a:t>•  The pattern has been running quietly for years — visible in turnover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621024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563EB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Relational Performance Advisory  |  Andrew Houser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ASSESSMENT — HOW WE SEE THE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</a:rPr>
              <a:t>Three independent sources. One picture.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No single method surfaces what you most need to see. The gaps between them are the most diagnostic information I collect.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3291840" cy="315468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82880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Narrative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32304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How a leader talks about
high-stakes events.
Coherence. Affect regulation.
Self–other balance.
Not the story — how they tell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95928" y="1719072"/>
            <a:ext cx="3291840" cy="315468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0568" y="182880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188366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Multi-Rater 360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2432304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What others observe.
5 behavioral clusters.
Pressure-specific items.
Not personality —
observable behavior.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6096" y="1719072"/>
            <a:ext cx="3291840" cy="315468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60736" y="182880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5" y="188366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Behavioral Observation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5" y="2432304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What happens under
controlled pressure.
Peer challenge.
Authority challenge.
Repair moment.
The validity check.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0383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3A5F"/>
                </a:solidFill>
              </a:rPr>
              <a:t>▼  All three sources converge into the Individual Behavioral Pattern 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Relational Performance Advisory  |  Andrew Houser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ASSESSMENT 01 — NARRATIVE INTERVIEW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</a:rPr>
              <a:t>The conversation reveals what surveys miss.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45-minute structured conversation about specific relational incidents. Not self-assessment. Not a performance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5376672" cy="331012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Training Assumed: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010912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•  Managers need better scripts for hard conversations</a:t>
            </a:r>
          </a:p>
          <a:p>
            <a:r>
              <a:rPr sz="1300">
                <a:solidFill>
                  <a:srgbClr val="1F2937"/>
                </a:solidFill>
              </a:rPr>
              <a:t>•  Self-report identifies where the gap is</a:t>
            </a:r>
          </a:p>
          <a:p>
            <a:r>
              <a:rPr sz="1300">
                <a:solidFill>
                  <a:srgbClr val="1F2937"/>
                </a:solidFill>
              </a:rPr>
              <a:t>•  The problem is visible and accessible to the 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719072"/>
            <a:ext cx="5376672" cy="331012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65376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What the Interview Finds: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86000"/>
            <a:ext cx="5010912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•  The scripts are already there — managers can’t access them when relational pressure hits</a:t>
            </a:r>
          </a:p>
          <a:p>
            <a:r>
              <a:rPr sz="1300">
                <a:solidFill>
                  <a:srgbClr val="1F2937"/>
                </a:solidFill>
              </a:rPr>
              <a:t>•  How someone tells a high-stakes story reveals the pattern beneath it</a:t>
            </a:r>
          </a:p>
          <a:p>
            <a:r>
              <a:rPr sz="1300">
                <a:solidFill>
                  <a:srgbClr val="1F2937"/>
                </a:solidFill>
              </a:rPr>
              <a:t>•  Coherence, affect, self–other balance — none of this appears in a survey or a self-report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118104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053328"/>
            <a:ext cx="11457432" cy="50292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1733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</a:rPr>
              <a:t>Research:  Bruce Perry, M.D. — "Cortical skills trained in calm conditions don't transfer to activation-state behavior. The lower brain structures dominate under threat — this is not a character failure, it's a neurobiological sequence."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Relational Performance Advisory  |  Andrew Houser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ASSESSMENT 02 — MULTI-RATER 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</a:rPr>
              <a:t>The pattern most worth addressing is least visible from the inside.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25 behavioral items. 5 clusters. Three rater groups. Pressure-specific — not personality, not generic leadership competency.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5376672" cy="331012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Training Assumed: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010912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•  Managers can accurately self-assess where they need to grow</a:t>
            </a:r>
          </a:p>
          <a:p>
            <a:r>
              <a:rPr sz="1300">
                <a:solidFill>
                  <a:srgbClr val="1F2937"/>
                </a:solidFill>
              </a:rPr>
              <a:t>•  The gap between intention and impact is visible to the person experiencing it</a:t>
            </a:r>
          </a:p>
          <a:p>
            <a:r>
              <a:rPr sz="1300">
                <a:solidFill>
                  <a:srgbClr val="1F2937"/>
                </a:solidFill>
              </a:rPr>
              <a:t>•  Self-report is enough to design development around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719072"/>
            <a:ext cx="5376672" cy="331012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65376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What the 360 Finds: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86000"/>
            <a:ext cx="5010912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•  The pattern activating the workforce is often completely invisible to the manager running it</a:t>
            </a:r>
          </a:p>
          <a:p>
            <a:r>
              <a:rPr sz="1300">
                <a:solidFill>
                  <a:srgbClr val="1F2937"/>
                </a:solidFill>
              </a:rPr>
              <a:t>•  Three rater groups catch what one source — or the manager themselves — will miss</a:t>
            </a:r>
          </a:p>
          <a:p>
            <a:r>
              <a:rPr sz="1300">
                <a:solidFill>
                  <a:srgbClr val="1F2937"/>
                </a:solidFill>
              </a:rPr>
              <a:t>•  The gap between how a leader rates themselves and how others rate them is the primary diagnostic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118104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053328"/>
            <a:ext cx="11457432" cy="50292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1733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</a:rPr>
              <a:t>Research:  David Rock, NeuroLeadership Institute — "Social threat activates the same neural pathways as physical danger. Managers activate SCARF threat domains in others without knowing it."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Relational Performance Advisory  |  Andrew Houser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ASSESSMENT 03 — BEHAVIORAL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</a:rPr>
              <a:t>The pattern is invisible until pressure is applied.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Structured half-day session. Real relational pressure in controlled scenarios. I know what to look for before I walk 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5376672" cy="331012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Training Assumed: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010912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•  Calm-state skill learning transfers to behavior under pressure</a:t>
            </a:r>
          </a:p>
          <a:p>
            <a:r>
              <a:rPr sz="1300">
                <a:solidFill>
                  <a:srgbClr val="1F2937"/>
                </a:solidFill>
              </a:rPr>
              <a:t>•  You can evaluate relational capacity in a low-stakes context</a:t>
            </a:r>
          </a:p>
          <a:p>
            <a:r>
              <a:rPr sz="1300">
                <a:solidFill>
                  <a:srgbClr val="1F2937"/>
                </a:solidFill>
              </a:rPr>
              <a:t>•  What a manager says they’ll do under pressure is what they 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719072"/>
            <a:ext cx="5376672" cy="331012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65376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What Observation Finds: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86000"/>
            <a:ext cx="5010912" cy="262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•  Under genuine relational pressure, the pattern emerges — even in leaders who present well</a:t>
            </a:r>
          </a:p>
          <a:p>
            <a:r>
              <a:rPr sz="1300">
                <a:solidFill>
                  <a:srgbClr val="1F2937"/>
                </a:solidFill>
              </a:rPr>
              <a:t>•  Peer challenge, authority challenge, repair moment — each one reveals a different dimension</a:t>
            </a:r>
          </a:p>
          <a:p>
            <a:r>
              <a:rPr sz="1300">
                <a:solidFill>
                  <a:srgbClr val="1F2937"/>
                </a:solidFill>
              </a:rPr>
              <a:t>•  This is the validity check: three independent sources converging on the same pattern is not a perception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118104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053328"/>
            <a:ext cx="11457432" cy="50292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1733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</a:rPr>
              <a:t>Research:  Ekman &amp; Friesen — "Involuntary behavioral signals under stress are more diagnostic than deliberate ones. What people do under genuine pressure cannot be performed or managed."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Relational Performance Advisory  |  Andrew Houser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WHAT WE BUILD — INDIVIDUAL BEHAVIORAL PATTERN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</a:rPr>
              <a:t>Pattern-specific. Not generic.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Built from all three sources. Every leader’s profile is different — because every pattern has a different trigger, cost, and development path.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2651760" cy="16002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3472" y="1810512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847088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Withdrawal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377439"/>
            <a:ext cx="232257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Goes quiet under pressure.
Avoids accountability conversations.
Team loses safety.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1719072"/>
            <a:ext cx="2651760" cy="16002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95544" y="1810512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1847088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2377439"/>
            <a:ext cx="232257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Intensity under threat.
Over-pursues. Over-communicates.
Team becomes guarded.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9904" y="1719072"/>
            <a:ext cx="2651760" cy="160020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810512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1847088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Disorganization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377439"/>
            <a:ext cx="232257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Cycles between both.
Unpredictable responses.
Team loses orientation.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51976" y="1719072"/>
            <a:ext cx="2651760" cy="160020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19688" y="1810512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59669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6568" y="1847088"/>
            <a:ext cx="23225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Collaborative
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377439"/>
            <a:ext cx="2322576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</a:rPr>
              <a:t>Stays regulated under activation.
Repairs well. Accountable.
The development target.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75304"/>
            <a:ext cx="11457432" cy="16642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703320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Each profile contains: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050791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</a:rPr>
              <a:t>Primary behavioral dimension  ·  Activation threshold &amp; triggers  ·  SCARF domains most activated  ·  Developmental readiness stage (Prochaska)  ·  Operational cost narrative  ·  Coaching entry point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053328"/>
            <a:ext cx="11457432" cy="50292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11733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</a:rPr>
              <a:t>Research:  Prochaska (Univ. of Rhode Island) — "Intervention mismatched to readiness stage produces compliance without behavioral change. The stage determines the method."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Relational Performance Advisory  |  Andrew Houser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INTERVENTION — INDIVIDUAL COACHING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</a:rPr>
              <a:t>Changing the pattern. Not the script.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12 sessions over 12 months. Calibrated to each leader’s pattern and readiness. The goal: the behavior holds when no one is watching.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5376672" cy="376732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What Training Does: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5010912" cy="308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•  Deposits skill and knowledge in the cortex</a:t>
            </a:r>
          </a:p>
          <a:p>
            <a:r>
              <a:rPr sz="1300">
                <a:solidFill>
                  <a:srgbClr val="1F2937"/>
                </a:solidFill>
              </a:rPr>
              <a:t>•  Manager leaves the room knowing what to do</a:t>
            </a:r>
          </a:p>
          <a:p>
            <a:r>
              <a:rPr sz="1300">
                <a:solidFill>
                  <a:srgbClr val="1F2937"/>
                </a:solidFill>
              </a:rPr>
              <a:t>•  Returns to same conditions that activate the pattern</a:t>
            </a:r>
          </a:p>
          <a:p>
            <a:r>
              <a:rPr sz="1300">
                <a:solidFill>
                  <a:srgbClr val="1F2937"/>
                </a:solidFill>
              </a:rPr>
              <a:t>•  Pattern reasserts — reverts to prior behavior</a:t>
            </a:r>
          </a:p>
          <a:p>
            <a:r>
              <a:rPr sz="1300">
                <a:solidFill>
                  <a:srgbClr val="1F2937"/>
                </a:solidFill>
              </a:rPr>
              <a:t>•  Looks like it worked during training; costs show up 90 days later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719072"/>
            <a:ext cx="5376672" cy="3767328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865376"/>
            <a:ext cx="5010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What the Coaching Arc Does: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286000"/>
            <a:ext cx="5010912" cy="308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•  Surfaces the competing commitment that overrides what the manager knows (Kegan/Lahey)</a:t>
            </a:r>
          </a:p>
          <a:p>
            <a:r>
              <a:rPr sz="1300">
                <a:solidFill>
                  <a:srgbClr val="1F2937"/>
                </a:solidFill>
              </a:rPr>
              <a:t>•  Builds regulatory capacity in the specific conditions that trigger the pattern</a:t>
            </a:r>
          </a:p>
          <a:p>
            <a:r>
              <a:rPr sz="1300">
                <a:solidFill>
                  <a:srgbClr val="1F2937"/>
                </a:solidFill>
              </a:rPr>
              <a:t>•  Stage-matched: meets each leader where they actually are</a:t>
            </a:r>
          </a:p>
          <a:p>
            <a:r>
              <a:rPr sz="1300">
                <a:solidFill>
                  <a:srgbClr val="1F2937"/>
                </a:solidFill>
              </a:rPr>
              <a:t>•  Conviction-level change, not compliance — the behavior holds when no one is watching</a:t>
            </a:r>
          </a:p>
          <a:p>
            <a:r>
              <a:rPr sz="1300">
                <a:solidFill>
                  <a:srgbClr val="1F2937"/>
                </a:solidFill>
              </a:rPr>
              <a:t>•  12 sessions = enough cycles to test, fail, debrief, and recalibrate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346704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053328"/>
            <a:ext cx="11457432" cy="50292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17336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</a:rPr>
              <a:t>Research:  Kegan &amp; Lahey (Harvard GSE) — "Most change failure is not skill deficit or lack of motivation. It is immunity to change — an unconscious competing commitment the leader doesn't know they hold."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Relational Performance Advisory  |  Andrew Houser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WHAT MAKES IT 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</a:rPr>
              <a:t>Individual change without structural support reverts in 18 months.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Two components that convert individual development into lasting operational change.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5376672" cy="3977639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65376"/>
            <a:ext cx="5010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TEAM FACILITATION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9424"/>
            <a:ext cx="5010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3 structured sessions with the full management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79776"/>
            <a:ext cx="5010912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•  Peer challenge — what happens when a peer pushes back</a:t>
            </a:r>
          </a:p>
          <a:p>
            <a:r>
              <a:rPr sz="1300">
                <a:solidFill>
                  <a:srgbClr val="1F2937"/>
                </a:solidFill>
              </a:rPr>
              <a:t>•  Authority challenge — regulated response under pressure from above</a:t>
            </a:r>
          </a:p>
          <a:p>
            <a:r>
              <a:rPr sz="1300">
                <a:solidFill>
                  <a:srgbClr val="1F2937"/>
                </a:solidFill>
              </a:rPr>
              <a:t>•  Repair session — what the team does after something goes wrong</a:t>
            </a:r>
          </a:p>
          <a:p>
            <a:r>
              <a:rPr sz="1300">
                <a:solidFill>
                  <a:srgbClr val="1F2937"/>
                </a:solidFill>
              </a:rPr>
              <a:t>•  Psychological safety is a team-level phenomenon. Can't build it in individual coaching.</a:t>
            </a:r>
          </a:p>
          <a:p>
            <a:r>
              <a:rPr sz="1300">
                <a:solidFill>
                  <a:srgbClr val="1F2937"/>
                </a:solidFill>
              </a:rPr>
              <a:t>•  Where individual change gets tested against real team dynamics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21223"/>
            <a:ext cx="5010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Edmondson (Harvard Business School) — #1 predictor of team performance across industries.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719072"/>
            <a:ext cx="5376672" cy="3977639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65376"/>
            <a:ext cx="5010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STRUCTURAL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249424"/>
            <a:ext cx="5010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The operational systems that make behavior changes 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779776"/>
            <a:ext cx="5010912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F2937"/>
                </a:solidFill>
              </a:rPr>
              <a:t>•  How GMs are held to culture standards — not just performance metrics</a:t>
            </a:r>
          </a:p>
          <a:p>
            <a:r>
              <a:rPr sz="1300">
                <a:solidFill>
                  <a:srgbClr val="1F2937"/>
                </a:solidFill>
              </a:rPr>
              <a:t>•  Onboarding design that builds belonging, not just job competency</a:t>
            </a:r>
          </a:p>
          <a:p>
            <a:r>
              <a:rPr sz="1300">
                <a:solidFill>
                  <a:srgbClr val="1F2937"/>
                </a:solidFill>
              </a:rPr>
              <a:t>•  Early warning systems — signals before someone decides to leave</a:t>
            </a:r>
          </a:p>
          <a:p>
            <a:r>
              <a:rPr sz="1300">
                <a:solidFill>
                  <a:srgbClr val="1F2937"/>
                </a:solidFill>
              </a:rPr>
              <a:t>•  Supervisory accountability structures that don’t depend on the owner being present</a:t>
            </a:r>
          </a:p>
          <a:p>
            <a:r>
              <a:rPr sz="1300">
                <a:solidFill>
                  <a:srgbClr val="1F2937"/>
                </a:solidFill>
              </a:rPr>
              <a:t>•  Culture measurement producing leading indicators, not lagging 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221223"/>
            <a:ext cx="50109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</a:rPr>
              <a:t>Tracey &amp; Hinkin — Culture programs without structural reinforcement fail within 18 months.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5379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</a:rPr>
              <a:t>Relational Performance Advisory  |  Andrew Houser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</a:rPr>
              <a:t>PHASE 1 — WHAT YOU 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75488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3A5F"/>
                </a:solidFill>
              </a:rPr>
              <a:t>Three deliverables. Thirteen weeks. $28,000.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16736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</a:rPr>
              <a:t>At your scale, a 10% improvement in retention recovers this in the first quarter.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3566160" cy="2578608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1296" y="182880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6537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Individual Behavioral
Pattern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05456"/>
            <a:ext cx="3200400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One per leader assessed.
Specific to their pattern,
activation threshold, and
development path.
The leader receives this.
You do not.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8808" y="1719072"/>
            <a:ext cx="3566160" cy="2578608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24344" y="182880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86537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Team Aggregate
Pattern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505456"/>
            <a:ext cx="3200400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What your management team
shows under pressure—collectively.
Pattern distribution,
trigger conditions, and
development priorities.
This one is yours.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1856" y="1719072"/>
            <a:ext cx="3566160" cy="2578608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37392" y="1828800"/>
            <a:ext cx="347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86537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Structural
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505456"/>
            <a:ext cx="3200400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</a:rPr>
              <a:t>The operational changes
that make behavior changes hold.
Specific to what your
assessment finds —
not a generic checklist.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553712"/>
            <a:ext cx="11457432" cy="14447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736592"/>
            <a:ext cx="1106424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ROI Frame:  At 400 employees and 70% annual turnover, you’re replacing ~280 people per year.  At $3,000–$5,000 per replacement, that’s $840K–$1.4M annually in replacement cost alone.  A 10% improvement in retention = $84K–$140K recovered.  The engagement pays for itself.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One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6984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1">
                <a:solidFill>
                  <a:srgbClr val="93C5FD"/>
                </a:solidFill>
              </a:rPr>
              <a:t>“What would it mean for your operation
if your management team functioned at the same level
under pressure that they do when things are going well?”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533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</a:rPr>
              <a:t>Andrew Houser  |  Relational Performance Advisory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