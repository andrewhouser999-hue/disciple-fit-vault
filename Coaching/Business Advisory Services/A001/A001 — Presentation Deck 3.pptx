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already named this — you identified at [coffee shop] that the behavior is coming from the environment, not the character of your people. This is why training doesn't stick. It changes what people know. It doesn't change the conditions that activated the pattern in the first place. When the manager walks back into the same environment, the same conditions produce the same behavior. What's different here is that we work at the level where the pattern is actually produced."</a:t>
            </a:r>
          </a:p>
          <a:p/>
          <a:p>
            <a:r>
              <a:t>Deploy when: Owner mentions prior training that failed, OR asks "why does this keep happening?"</a:t>
            </a:r>
          </a:p>
          <a:p>
            <a:r>
              <a:t>Duration: 60–75 seconds</a:t>
            </a:r>
          </a:p>
          <a:p>
            <a:r>
              <a:t>Put away when: Owner acknowledges the distinction — any verbal signal that it landed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chain. Structural conditions in the operation — how authority works, how mistakes get handled, how much certainty people have about what's expected — shape how managers experience their environment day to day. That shapes how managers show up with their teams. That shapes how employees experience their environment. And what you see is in the fourth box: the conflict, the avoidance, the turnover. The fifth box is what it costs you. You're watching the last two boxes. The work is in the first three."</a:t>
            </a:r>
          </a:p>
          <a:p/>
          <a:p>
            <a:r>
              <a:t>Deploy when: Owner asks HOW environment produces behavior; OR after a specific incident</a:t>
            </a:r>
          </a:p>
          <a:p>
            <a:r>
              <a:t>Duration: 75–90 seconds</a:t>
            </a:r>
          </a:p>
          <a:p>
            <a:r>
              <a:t>Put away when: Owner can place what he described in the chain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your scale, you're replacing roughly 300 people a year. At $3,000 to $5,000 per replacement — and those are conservative numbers for hospitality — that's $1.2 million annually, just in replacement cost. That doesn't count what it costs while the position is vacant, what it costs to ramp a new hire, or what it costs to your guest experience when your team is in constant turnover. The Phase 1 investment is $28,000. That pays for itself before you'd notice the savings."</a:t>
            </a:r>
          </a:p>
          <a:p/>
          <a:p>
            <a:r>
              <a:t>Deploy when: Owner raises cost or asks about pricing; OR making the investment case before Phase 1</a:t>
            </a:r>
          </a:p>
          <a:p>
            <a:r>
              <a:t>Duration: 60 seconds</a:t>
            </a:r>
          </a:p>
          <a:p>
            <a:r>
              <a:t>Put away when: Owner has reacted to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come out of Phase 1. First, a behavioral profile for each leader — what their patterns are, what activates them, and what their specific development path looks like. Second, a team map — how the management team functions collectively, and what in the structure is contributing to the patterns. Third, structural recommendations — specific things in how you're running the environment that are driving what you're seeing. Each one connects to a specific decision. At the end of Phase 1 you decide whether you want to move to implementation."</a:t>
            </a:r>
          </a:p>
          <a:p/>
          <a:p>
            <a:r>
              <a:t>Deploy when: Owner asks "what do I actually get?" or "what are the deliverables?"</a:t>
            </a:r>
          </a:p>
          <a:p>
            <a:r>
              <a:t>Duration: 75 seconds</a:t>
            </a:r>
          </a:p>
          <a:p>
            <a:r>
              <a:t>Put away when: Owner has processed all three boxes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13 weeks — assessment, interpretation, debrief. The first things you'll notice if we proceed to implementation are behavioral — your managers showing up differently in difficult situations. That typically happens within 60 to 90 days of well-implemented development work. The turnover shift follows, at 6 to 12 months. A culture that holds without you having to maintain it manually — that's 18 months or more. I'm not going to tell you this is fast. What I will tell you is that you've already seen what not doing it costs."</a:t>
            </a:r>
          </a:p>
          <a:p/>
          <a:p>
            <a:r>
              <a:t>Deploy when: Owner asks "how long before I see a difference?" or expresses timeline pressure</a:t>
            </a:r>
          </a:p>
          <a:p>
            <a:r>
              <a:t>Duration: 75 seconds</a:t>
            </a:r>
          </a:p>
          <a:p>
            <a:r>
              <a:t>Put away when: Owner acknowledges the timeline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meet with your managers about this — here's the frame that will set things up well for you. The thing your OMs will want to know first is what this means for them — whether they're being evaluated, whether you'll have access to what they share, whether this is being done to them or with them. The confidentiality structure means their individual data stays with them — what you receive is the aggregate picture. That protection is what makes honest assessment possible. Your managers are not the problem here. They're the lever."</a:t>
            </a:r>
          </a:p>
          <a:p/>
          <a:p>
            <a:r>
              <a:t>Deploy when: Close of meeting — owner surfaces OM question; OR Pivot 2 is raised</a:t>
            </a:r>
          </a:p>
          <a:p>
            <a:r>
              <a:t>Duration: 75–90 seconds</a:t>
            </a:r>
          </a:p>
          <a:p>
            <a:r>
              <a:t>Put away when: Owner has language for how to introduce Andrew to OMs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094476" y="822960"/>
            <a:ext cx="22860" cy="45720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an 2"/>
          <p:cNvSpPr/>
          <p:nvPr/>
        </p:nvSpPr>
        <p:spPr>
          <a:xfrm>
            <a:off x="5641848" y="3017520"/>
            <a:ext cx="905256" cy="411480"/>
          </a:xfrm>
          <a:prstGeom prst="can">
            <a:avLst/>
          </a:prstGeom>
          <a:solidFill>
            <a:srgbClr val="2E7D87"/>
          </a:solidFill>
          <a:ln>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22960"/>
            <a:ext cx="5029200" cy="502920"/>
          </a:xfrm>
          <a:prstGeom prst="rect">
            <a:avLst/>
          </a:prstGeom>
          <a:noFill/>
        </p:spPr>
        <p:txBody>
          <a:bodyPr wrap="square">
            <a:spAutoFit/>
          </a:bodyPr>
          <a:lstStyle/>
          <a:p>
            <a:pPr algn="ctr"/>
            <a:r>
              <a:rPr sz="2600" b="1" i="0">
                <a:solidFill>
                  <a:srgbClr val="1A2744"/>
                </a:solidFill>
                <a:latin typeface="Calibri"/>
              </a:rPr>
              <a:t>STANDARD APPROACH</a:t>
            </a:r>
          </a:p>
        </p:txBody>
      </p:sp>
      <p:sp>
        <p:nvSpPr>
          <p:cNvPr id="5" name="TextBox 4"/>
          <p:cNvSpPr txBox="1"/>
          <p:nvPr/>
        </p:nvSpPr>
        <p:spPr>
          <a:xfrm>
            <a:off x="457200" y="1463040"/>
            <a:ext cx="5029200" cy="3840480"/>
          </a:xfrm>
          <a:prstGeom prst="rect">
            <a:avLst/>
          </a:prstGeom>
          <a:noFill/>
        </p:spPr>
        <p:txBody>
          <a:bodyPr wrap="square">
            <a:spAutoFit/>
          </a:bodyPr>
          <a:lstStyle/>
          <a:p>
            <a:pPr algn="ctr"/>
            <a:r>
              <a:rPr sz="2200" b="0" i="0">
                <a:solidFill>
                  <a:srgbClr val="1A2744"/>
                </a:solidFill>
                <a:latin typeface="Calibri"/>
              </a:rPr>
              <a:t>Changes knowledge</a:t>
            </a:r>
          </a:p>
          <a:p>
            <a:pPr algn="ctr"/>
            <a:r>
              <a:rPr sz="2200" b="0" i="0">
                <a:solidFill>
                  <a:srgbClr val="1A2744"/>
                </a:solidFill>
                <a:latin typeface="Calibri"/>
              </a:rPr>
              <a:t>↓</a:t>
            </a:r>
          </a:p>
          <a:p>
            <a:pPr algn="ctr"/>
            <a:r>
              <a:rPr sz="2200" b="0" i="0">
                <a:solidFill>
                  <a:srgbClr val="1A2744"/>
                </a:solidFill>
                <a:latin typeface="Calibri"/>
              </a:rPr>
              <a:t>Doesn't reach what produces the behavior</a:t>
            </a:r>
          </a:p>
          <a:p>
            <a:pPr algn="ctr"/>
            <a:r>
              <a:rPr sz="2200" b="0" i="0">
                <a:solidFill>
                  <a:srgbClr val="1A2744"/>
                </a:solidFill>
                <a:latin typeface="Calibri"/>
              </a:rPr>
              <a:t>↓</a:t>
            </a:r>
          </a:p>
          <a:p>
            <a:pPr algn="ctr"/>
            <a:r>
              <a:rPr sz="2200" b="0" i="0">
                <a:solidFill>
                  <a:srgbClr val="1A2744"/>
                </a:solidFill>
                <a:latin typeface="Calibri"/>
              </a:rPr>
              <a:t>Reverts in 30–90 days</a:t>
            </a:r>
          </a:p>
        </p:txBody>
      </p:sp>
      <p:sp>
        <p:nvSpPr>
          <p:cNvPr id="6" name="TextBox 5"/>
          <p:cNvSpPr txBox="1"/>
          <p:nvPr/>
        </p:nvSpPr>
        <p:spPr>
          <a:xfrm>
            <a:off x="6702552" y="822960"/>
            <a:ext cx="5029200" cy="502920"/>
          </a:xfrm>
          <a:prstGeom prst="rect">
            <a:avLst/>
          </a:prstGeom>
          <a:noFill/>
        </p:spPr>
        <p:txBody>
          <a:bodyPr wrap="square">
            <a:spAutoFit/>
          </a:bodyPr>
          <a:lstStyle/>
          <a:p>
            <a:pPr algn="ctr"/>
            <a:r>
              <a:rPr sz="2600" b="1" i="0">
                <a:solidFill>
                  <a:srgbClr val="1A2744"/>
                </a:solidFill>
                <a:latin typeface="Calibri"/>
              </a:rPr>
              <a:t>WHAT'S DIFFERENT HERE</a:t>
            </a:r>
          </a:p>
        </p:txBody>
      </p:sp>
      <p:sp>
        <p:nvSpPr>
          <p:cNvPr id="7" name="TextBox 6"/>
          <p:cNvSpPr txBox="1"/>
          <p:nvPr/>
        </p:nvSpPr>
        <p:spPr>
          <a:xfrm>
            <a:off x="6702552" y="1463040"/>
            <a:ext cx="5029200" cy="3840480"/>
          </a:xfrm>
          <a:prstGeom prst="rect">
            <a:avLst/>
          </a:prstGeom>
          <a:noFill/>
        </p:spPr>
        <p:txBody>
          <a:bodyPr wrap="square">
            <a:spAutoFit/>
          </a:bodyPr>
          <a:lstStyle/>
          <a:p>
            <a:pPr algn="ctr"/>
            <a:r>
              <a:rPr sz="2200" b="0" i="0">
                <a:solidFill>
                  <a:srgbClr val="1A2744"/>
                </a:solidFill>
                <a:latin typeface="Calibri"/>
              </a:rPr>
              <a:t>Changes conditions</a:t>
            </a:r>
          </a:p>
          <a:p>
            <a:pPr algn="ctr"/>
            <a:r>
              <a:rPr sz="2200" b="0" i="0">
                <a:solidFill>
                  <a:srgbClr val="1A2744"/>
                </a:solidFill>
                <a:latin typeface="Calibri"/>
              </a:rPr>
              <a:t>↓</a:t>
            </a:r>
          </a:p>
          <a:p>
            <a:pPr algn="ctr"/>
            <a:r>
              <a:rPr sz="2200" b="0" i="0">
                <a:solidFill>
                  <a:srgbClr val="1A2744"/>
                </a:solidFill>
                <a:latin typeface="Calibri"/>
              </a:rPr>
              <a:t>Addresses what produces the behavior</a:t>
            </a:r>
          </a:p>
          <a:p>
            <a:pPr algn="ctr"/>
            <a:r>
              <a:rPr sz="2200" b="0" i="0">
                <a:solidFill>
                  <a:srgbClr val="1A2744"/>
                </a:solidFill>
                <a:latin typeface="Calibri"/>
              </a:rPr>
              <a:t>↓</a:t>
            </a:r>
          </a:p>
          <a:p>
            <a:pPr algn="ctr"/>
            <a:r>
              <a:rPr sz="2200" b="0" i="0">
                <a:solidFill>
                  <a:srgbClr val="1A2744"/>
                </a:solidFill>
                <a:latin typeface="Calibri"/>
              </a:rPr>
              <a:t>Holds</a:t>
            </a:r>
          </a:p>
        </p:txBody>
      </p:sp>
      <p:sp>
        <p:nvSpPr>
          <p:cNvPr id="8" name="TextBox 7"/>
          <p:cNvSpPr txBox="1"/>
          <p:nvPr/>
        </p:nvSpPr>
        <p:spPr>
          <a:xfrm>
            <a:off x="457200" y="6080760"/>
            <a:ext cx="11274552" cy="548640"/>
          </a:xfrm>
          <a:prstGeom prst="rect">
            <a:avLst/>
          </a:prstGeom>
          <a:noFill/>
        </p:spPr>
        <p:txBody>
          <a:bodyPr wrap="square">
            <a:spAutoFit/>
          </a:bodyPr>
          <a:lstStyle/>
          <a:p>
            <a:pPr algn="ctr"/>
            <a:r>
              <a:rPr sz="1800" b="0" i="1">
                <a:solidFill>
                  <a:srgbClr val="1A2744"/>
                </a:solidFill>
                <a:latin typeface="Calibri"/>
              </a:rPr>
              <a:t>The pattern is produced by the environment. Standard training doesn't touch the environment.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94360"/>
          </a:xfrm>
          <a:prstGeom prst="rect">
            <a:avLst/>
          </a:prstGeom>
          <a:noFill/>
        </p:spPr>
        <p:txBody>
          <a:bodyPr wrap="square">
            <a:spAutoFit/>
          </a:bodyPr>
          <a:lstStyle/>
          <a:p>
            <a:pPr algn="l"/>
            <a:r>
              <a:rPr sz="3400" b="1" i="0">
                <a:solidFill>
                  <a:srgbClr val="1A2744"/>
                </a:solidFill>
                <a:latin typeface="Calibri"/>
              </a:rPr>
              <a:t>Why the same patterns keep showing up</a:t>
            </a:r>
          </a:p>
        </p:txBody>
      </p:sp>
      <p:sp>
        <p:nvSpPr>
          <p:cNvPr id="3" name="Rectangle 2"/>
          <p:cNvSpPr/>
          <p:nvPr/>
        </p:nvSpPr>
        <p:spPr>
          <a:xfrm>
            <a:off x="457200" y="1188720"/>
            <a:ext cx="2050084" cy="1920240"/>
          </a:xfrm>
          <a:prstGeom prst="rect">
            <a:avLst/>
          </a:prstGeom>
          <a:solidFill>
            <a:srgbClr val="FFFFFF"/>
          </a:solidFill>
          <a:ln w="2540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 rIns="45720"/>
          <a:lstStyle/>
          <a:p>
            <a:pPr algn="ctr"/>
            <a:r>
              <a:rPr sz="1900" b="1">
                <a:solidFill>
                  <a:srgbClr val="1A2744"/>
                </a:solidFill>
                <a:latin typeface="Calibri"/>
              </a:rPr>
              <a:t>Structural
Conditions</a:t>
            </a:r>
          </a:p>
        </p:txBody>
      </p:sp>
      <p:sp>
        <p:nvSpPr>
          <p:cNvPr id="4" name="Can 3"/>
          <p:cNvSpPr/>
          <p:nvPr/>
        </p:nvSpPr>
        <p:spPr>
          <a:xfrm>
            <a:off x="2507284" y="1984248"/>
            <a:ext cx="256032" cy="329184"/>
          </a:xfrm>
          <a:prstGeom prst="can">
            <a:avLst/>
          </a:prstGeom>
          <a:solidFill>
            <a:srgbClr val="2E7D87"/>
          </a:solidFill>
          <a:ln>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63316" y="1188720"/>
            <a:ext cx="2050084" cy="1920240"/>
          </a:xfrm>
          <a:prstGeom prst="rect">
            <a:avLst/>
          </a:prstGeom>
          <a:solidFill>
            <a:srgbClr val="FFFFFF"/>
          </a:solidFill>
          <a:ln w="2540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 rIns="45720"/>
          <a:lstStyle/>
          <a:p>
            <a:pPr algn="ctr"/>
            <a:r>
              <a:rPr sz="1900" b="1">
                <a:solidFill>
                  <a:srgbClr val="1A2744"/>
                </a:solidFill>
                <a:latin typeface="Calibri"/>
              </a:rPr>
              <a:t>Manager
Experience</a:t>
            </a:r>
          </a:p>
        </p:txBody>
      </p:sp>
      <p:sp>
        <p:nvSpPr>
          <p:cNvPr id="6" name="Can 5"/>
          <p:cNvSpPr/>
          <p:nvPr/>
        </p:nvSpPr>
        <p:spPr>
          <a:xfrm>
            <a:off x="4813401" y="1984248"/>
            <a:ext cx="256032" cy="329184"/>
          </a:xfrm>
          <a:prstGeom prst="can">
            <a:avLst/>
          </a:prstGeom>
          <a:solidFill>
            <a:srgbClr val="2E7D87"/>
          </a:solidFill>
          <a:ln>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69433" y="1188720"/>
            <a:ext cx="2050084" cy="1920240"/>
          </a:xfrm>
          <a:prstGeom prst="rect">
            <a:avLst/>
          </a:prstGeom>
          <a:solidFill>
            <a:srgbClr val="FFFFFF"/>
          </a:solidFill>
          <a:ln w="2540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 rIns="45720"/>
          <a:lstStyle/>
          <a:p>
            <a:pPr algn="ctr"/>
            <a:r>
              <a:rPr sz="1900" b="1">
                <a:solidFill>
                  <a:srgbClr val="1A2744"/>
                </a:solidFill>
                <a:latin typeface="Calibri"/>
              </a:rPr>
              <a:t>Employee
Experience</a:t>
            </a:r>
          </a:p>
        </p:txBody>
      </p:sp>
      <p:sp>
        <p:nvSpPr>
          <p:cNvPr id="8" name="Can 7"/>
          <p:cNvSpPr/>
          <p:nvPr/>
        </p:nvSpPr>
        <p:spPr>
          <a:xfrm>
            <a:off x="7119518" y="1984248"/>
            <a:ext cx="256032" cy="329184"/>
          </a:xfrm>
          <a:prstGeom prst="can">
            <a:avLst/>
          </a:prstGeom>
          <a:solidFill>
            <a:srgbClr val="2E7D87"/>
          </a:solidFill>
          <a:ln>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75550" y="1188720"/>
            <a:ext cx="2050084" cy="1920240"/>
          </a:xfrm>
          <a:prstGeom prst="rect">
            <a:avLst/>
          </a:prstGeom>
          <a:solidFill>
            <a:srgbClr val="FFFFFF"/>
          </a:solidFill>
          <a:ln w="2540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 rIns="45720"/>
          <a:lstStyle/>
          <a:p>
            <a:pPr algn="ctr"/>
            <a:r>
              <a:rPr sz="1900" b="1">
                <a:solidFill>
                  <a:srgbClr val="1A2744"/>
                </a:solidFill>
                <a:latin typeface="Calibri"/>
              </a:rPr>
              <a:t>What
You See</a:t>
            </a:r>
          </a:p>
        </p:txBody>
      </p:sp>
      <p:sp>
        <p:nvSpPr>
          <p:cNvPr id="10" name="TextBox 9"/>
          <p:cNvSpPr txBox="1"/>
          <p:nvPr/>
        </p:nvSpPr>
        <p:spPr>
          <a:xfrm>
            <a:off x="7375550" y="3200400"/>
            <a:ext cx="2050084" cy="594360"/>
          </a:xfrm>
          <a:prstGeom prst="rect">
            <a:avLst/>
          </a:prstGeom>
          <a:noFill/>
        </p:spPr>
        <p:txBody>
          <a:bodyPr wrap="square">
            <a:spAutoFit/>
          </a:bodyPr>
          <a:lstStyle/>
          <a:p>
            <a:pPr algn="ctr"/>
            <a:r>
              <a:rPr sz="1500" b="0" i="1">
                <a:solidFill>
                  <a:srgbClr val="1A2744"/>
                </a:solidFill>
                <a:latin typeface="Calibri"/>
              </a:rPr>
              <a:t>conflict · avoidance
turnover · inconsistency</a:t>
            </a:r>
          </a:p>
        </p:txBody>
      </p:sp>
      <p:sp>
        <p:nvSpPr>
          <p:cNvPr id="11" name="Can 10"/>
          <p:cNvSpPr/>
          <p:nvPr/>
        </p:nvSpPr>
        <p:spPr>
          <a:xfrm>
            <a:off x="9425635" y="1984248"/>
            <a:ext cx="256032" cy="329184"/>
          </a:xfrm>
          <a:prstGeom prst="can">
            <a:avLst/>
          </a:prstGeom>
          <a:solidFill>
            <a:srgbClr val="2E7D87"/>
          </a:solidFill>
          <a:ln>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681667" y="1188720"/>
            <a:ext cx="2050084" cy="1920240"/>
          </a:xfrm>
          <a:prstGeom prst="rect">
            <a:avLst/>
          </a:prstGeom>
          <a:solidFill>
            <a:srgbClr val="FFFFFF"/>
          </a:solidFill>
          <a:ln w="2540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tIns="365760" lIns="45720" rIns="45720"/>
          <a:lstStyle/>
          <a:p>
            <a:pPr algn="ctr"/>
            <a:r>
              <a:rPr sz="1900" b="1">
                <a:solidFill>
                  <a:srgbClr val="1A2744"/>
                </a:solidFill>
                <a:latin typeface="Calibri"/>
              </a:rPr>
              <a:t>What
It Costs</a:t>
            </a:r>
          </a:p>
        </p:txBody>
      </p:sp>
      <p:sp>
        <p:nvSpPr>
          <p:cNvPr id="13" name="TextBox 12"/>
          <p:cNvSpPr txBox="1"/>
          <p:nvPr/>
        </p:nvSpPr>
        <p:spPr>
          <a:xfrm>
            <a:off x="9681667" y="3200400"/>
            <a:ext cx="2050084" cy="594360"/>
          </a:xfrm>
          <a:prstGeom prst="rect">
            <a:avLst/>
          </a:prstGeom>
          <a:noFill/>
        </p:spPr>
        <p:txBody>
          <a:bodyPr wrap="square">
            <a:spAutoFit/>
          </a:bodyPr>
          <a:lstStyle/>
          <a:p>
            <a:pPr algn="ctr"/>
            <a:r>
              <a:rPr sz="1500" b="0" i="1">
                <a:solidFill>
                  <a:srgbClr val="1A2744"/>
                </a:solidFill>
                <a:latin typeface="Calibri"/>
              </a:rPr>
              <a:t>$840K–$1.6M/year</a:t>
            </a:r>
          </a:p>
        </p:txBody>
      </p:sp>
      <p:sp>
        <p:nvSpPr>
          <p:cNvPr id="14" name="TextBox 13"/>
          <p:cNvSpPr txBox="1"/>
          <p:nvPr/>
        </p:nvSpPr>
        <p:spPr>
          <a:xfrm>
            <a:off x="457200" y="6080760"/>
            <a:ext cx="11274552" cy="548640"/>
          </a:xfrm>
          <a:prstGeom prst="rect">
            <a:avLst/>
          </a:prstGeom>
          <a:noFill/>
        </p:spPr>
        <p:txBody>
          <a:bodyPr wrap="square">
            <a:spAutoFit/>
          </a:bodyPr>
          <a:lstStyle/>
          <a:p>
            <a:pPr algn="ctr"/>
            <a:r>
              <a:rPr sz="1800" b="0" i="1">
                <a:solidFill>
                  <a:srgbClr val="1A2744"/>
                </a:solidFill>
                <a:latin typeface="Calibri"/>
              </a:rPr>
              <a:t>Change the first three boxes. The last two change with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594360"/>
            <a:ext cx="11274552" cy="594360"/>
          </a:xfrm>
          <a:prstGeom prst="rect">
            <a:avLst/>
          </a:prstGeom>
          <a:noFill/>
        </p:spPr>
        <p:txBody>
          <a:bodyPr wrap="square">
            <a:spAutoFit/>
          </a:bodyPr>
          <a:lstStyle/>
          <a:p>
            <a:pPr algn="ctr"/>
            <a:r>
              <a:rPr sz="2600" b="0" i="0">
                <a:solidFill>
                  <a:srgbClr val="1A2744"/>
                </a:solidFill>
                <a:latin typeface="Calibri"/>
              </a:rPr>
              <a:t>400 employees   ×   ~75% annual turnover   =   ~300 replacements / year</a:t>
            </a:r>
          </a:p>
        </p:txBody>
      </p:sp>
      <p:sp>
        <p:nvSpPr>
          <p:cNvPr id="3" name="TextBox 2"/>
          <p:cNvSpPr txBox="1"/>
          <p:nvPr/>
        </p:nvSpPr>
        <p:spPr>
          <a:xfrm>
            <a:off x="457200" y="1417320"/>
            <a:ext cx="11274552" cy="1280160"/>
          </a:xfrm>
          <a:prstGeom prst="rect">
            <a:avLst/>
          </a:prstGeom>
          <a:noFill/>
        </p:spPr>
        <p:txBody>
          <a:bodyPr wrap="square">
            <a:spAutoFit/>
          </a:bodyPr>
          <a:lstStyle/>
          <a:p>
            <a:pPr algn="ctr"/>
            <a:r>
              <a:rPr sz="6400" b="1" i="0">
                <a:solidFill>
                  <a:srgbClr val="2E7D87"/>
                </a:solidFill>
                <a:latin typeface="Calibri"/>
              </a:rPr>
              <a:t>$1,200,000</a:t>
            </a:r>
          </a:p>
        </p:txBody>
      </p:sp>
      <p:sp>
        <p:nvSpPr>
          <p:cNvPr id="4" name="TextBox 3"/>
          <p:cNvSpPr txBox="1"/>
          <p:nvPr/>
        </p:nvSpPr>
        <p:spPr>
          <a:xfrm>
            <a:off x="457200" y="2788920"/>
            <a:ext cx="11274552" cy="594360"/>
          </a:xfrm>
          <a:prstGeom prst="rect">
            <a:avLst/>
          </a:prstGeom>
          <a:noFill/>
        </p:spPr>
        <p:txBody>
          <a:bodyPr wrap="square">
            <a:spAutoFit/>
          </a:bodyPr>
          <a:lstStyle/>
          <a:p>
            <a:pPr algn="ctr"/>
            <a:r>
              <a:rPr sz="2000" b="0" i="0">
                <a:solidFill>
                  <a:srgbClr val="1A2744"/>
                </a:solidFill>
                <a:latin typeface="Calibri"/>
              </a:rPr>
              <a:t>in annual replacement cost — before productivity loss, training drag, and guest experience</a:t>
            </a:r>
          </a:p>
        </p:txBody>
      </p:sp>
      <p:sp>
        <p:nvSpPr>
          <p:cNvPr id="5" name="Rectangle 4"/>
          <p:cNvSpPr/>
          <p:nvPr/>
        </p:nvSpPr>
        <p:spPr>
          <a:xfrm>
            <a:off x="457200" y="3611880"/>
            <a:ext cx="11274552" cy="2286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794760"/>
            <a:ext cx="11274552" cy="548640"/>
          </a:xfrm>
          <a:prstGeom prst="rect">
            <a:avLst/>
          </a:prstGeom>
          <a:noFill/>
        </p:spPr>
        <p:txBody>
          <a:bodyPr wrap="square">
            <a:spAutoFit/>
          </a:bodyPr>
          <a:lstStyle/>
          <a:p>
            <a:pPr algn="ctr"/>
            <a:r>
              <a:rPr sz="2800" b="1" i="0">
                <a:solidFill>
                  <a:srgbClr val="1A2744"/>
                </a:solidFill>
                <a:latin typeface="Calibri"/>
              </a:rPr>
              <a:t>Phase 1 investment: $28,000</a:t>
            </a:r>
          </a:p>
        </p:txBody>
      </p:sp>
      <p:sp>
        <p:nvSpPr>
          <p:cNvPr id="7" name="TextBox 6"/>
          <p:cNvSpPr txBox="1"/>
          <p:nvPr/>
        </p:nvSpPr>
        <p:spPr>
          <a:xfrm>
            <a:off x="457200" y="4434840"/>
            <a:ext cx="11274552" cy="548640"/>
          </a:xfrm>
          <a:prstGeom prst="rect">
            <a:avLst/>
          </a:prstGeom>
          <a:noFill/>
        </p:spPr>
        <p:txBody>
          <a:bodyPr wrap="square">
            <a:spAutoFit/>
          </a:bodyPr>
          <a:lstStyle/>
          <a:p>
            <a:pPr algn="ctr"/>
            <a:r>
              <a:rPr sz="2200" b="0" i="0">
                <a:solidFill>
                  <a:srgbClr val="1A2744"/>
                </a:solidFill>
                <a:latin typeface="Calibri"/>
              </a:rPr>
              <a:t>Recovered at a fraction of a percentage point of turnover reduction.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94360"/>
          </a:xfrm>
          <a:prstGeom prst="rect">
            <a:avLst/>
          </a:prstGeom>
          <a:noFill/>
        </p:spPr>
        <p:txBody>
          <a:bodyPr wrap="square">
            <a:spAutoFit/>
          </a:bodyPr>
          <a:lstStyle/>
          <a:p>
            <a:pPr algn="l"/>
            <a:r>
              <a:rPr sz="3400" b="1" i="0">
                <a:solidFill>
                  <a:srgbClr val="1A2744"/>
                </a:solidFill>
                <a:latin typeface="Calibri"/>
              </a:rPr>
              <a:t>At the end of Phase 1, you have three things.</a:t>
            </a:r>
          </a:p>
        </p:txBody>
      </p:sp>
      <p:sp>
        <p:nvSpPr>
          <p:cNvPr id="3" name="Rectangle 2"/>
          <p:cNvSpPr/>
          <p:nvPr/>
        </p:nvSpPr>
        <p:spPr>
          <a:xfrm>
            <a:off x="457200" y="1188720"/>
            <a:ext cx="3636264" cy="4389120"/>
          </a:xfrm>
          <a:prstGeom prst="rect">
            <a:avLst/>
          </a:prstGeom>
          <a:solidFill>
            <a:srgbClr val="FFFFFF"/>
          </a:solidFill>
          <a:ln w="1905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109728"/>
          <a:lstStyle/>
          <a:p>
            <a:pPr algn="ctr"/>
            <a:r>
              <a:rPr sz="2000" b="1">
                <a:solidFill>
                  <a:srgbClr val="2E7D87"/>
                </a:solidFill>
                <a:latin typeface="Calibri"/>
              </a:rPr>
              <a:t>BEHAVIORAL PROFILE</a:t>
            </a:r>
          </a:p>
          <a:p>
            <a:pPr algn="ctr"/>
            <a:r>
              <a:rPr sz="1800">
                <a:solidFill>
                  <a:srgbClr val="1A2744"/>
                </a:solidFill>
                <a:latin typeface="Calibri"/>
              </a:rPr>
              <a:t>Per leader assessed</a:t>
            </a:r>
          </a:p>
          <a:p>
            <a:pPr algn="ctr"/>
            <a:r>
              <a:rPr sz="1800">
                <a:solidFill>
                  <a:srgbClr val="1A2744"/>
                </a:solidFill>
                <a:latin typeface="Calibri"/>
              </a:rPr>
              <a:t>What their patterns are</a:t>
            </a:r>
          </a:p>
          <a:p>
            <a:pPr algn="ctr"/>
            <a:r>
              <a:rPr sz="1800">
                <a:solidFill>
                  <a:srgbClr val="1A2744"/>
                </a:solidFill>
                <a:latin typeface="Calibri"/>
              </a:rPr>
              <a:t>What activates them</a:t>
            </a:r>
          </a:p>
          <a:p>
            <a:pPr algn="ctr"/>
            <a:r>
              <a:rPr sz="1800">
                <a:solidFill>
                  <a:srgbClr val="1A2744"/>
                </a:solidFill>
                <a:latin typeface="Calibri"/>
              </a:rPr>
              <a:t>Their development path</a:t>
            </a:r>
          </a:p>
        </p:txBody>
      </p:sp>
      <p:sp>
        <p:nvSpPr>
          <p:cNvPr id="4" name="Rectangle 3"/>
          <p:cNvSpPr/>
          <p:nvPr/>
        </p:nvSpPr>
        <p:spPr>
          <a:xfrm>
            <a:off x="4276344" y="1188720"/>
            <a:ext cx="3636264" cy="4389120"/>
          </a:xfrm>
          <a:prstGeom prst="rect">
            <a:avLst/>
          </a:prstGeom>
          <a:solidFill>
            <a:srgbClr val="FFFFFF"/>
          </a:solidFill>
          <a:ln w="1905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109728"/>
          <a:lstStyle/>
          <a:p>
            <a:pPr algn="ctr"/>
            <a:r>
              <a:rPr sz="2000" b="1">
                <a:solidFill>
                  <a:srgbClr val="2E7D87"/>
                </a:solidFill>
                <a:latin typeface="Calibri"/>
              </a:rPr>
              <a:t>TEAM MAP</a:t>
            </a:r>
          </a:p>
          <a:p>
            <a:pPr algn="ctr"/>
            <a:r>
              <a:rPr sz="1800">
                <a:solidFill>
                  <a:srgbClr val="1A2744"/>
                </a:solidFill>
                <a:latin typeface="Calibri"/>
              </a:rPr>
              <a:t>How the management team</a:t>
            </a:r>
          </a:p>
          <a:p>
            <a:pPr algn="ctr"/>
            <a:r>
              <a:rPr sz="1800">
                <a:solidFill>
                  <a:srgbClr val="1A2744"/>
                </a:solidFill>
                <a:latin typeface="Calibri"/>
              </a:rPr>
              <a:t>functions collectively</a:t>
            </a:r>
          </a:p>
          <a:p>
            <a:pPr algn="ctr"/>
            <a:r>
              <a:rPr sz="1800">
                <a:solidFill>
                  <a:srgbClr val="1A2744"/>
                </a:solidFill>
                <a:latin typeface="Calibri"/>
              </a:rPr>
              <a:t>What structural conditions</a:t>
            </a:r>
          </a:p>
          <a:p>
            <a:pPr algn="ctr"/>
            <a:r>
              <a:rPr sz="1800">
                <a:solidFill>
                  <a:srgbClr val="1A2744"/>
                </a:solidFill>
                <a:latin typeface="Calibri"/>
              </a:rPr>
              <a:t>are contributing</a:t>
            </a:r>
          </a:p>
        </p:txBody>
      </p:sp>
      <p:sp>
        <p:nvSpPr>
          <p:cNvPr id="5" name="Rectangle 4"/>
          <p:cNvSpPr/>
          <p:nvPr/>
        </p:nvSpPr>
        <p:spPr>
          <a:xfrm>
            <a:off x="8095488" y="1188720"/>
            <a:ext cx="3636264" cy="4389120"/>
          </a:xfrm>
          <a:prstGeom prst="rect">
            <a:avLst/>
          </a:prstGeom>
          <a:solidFill>
            <a:srgbClr val="FFFFFF"/>
          </a:solidFill>
          <a:ln w="19050">
            <a:solidFill>
              <a:srgbClr val="2E7D8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109728"/>
          <a:lstStyle/>
          <a:p>
            <a:pPr algn="ctr"/>
            <a:r>
              <a:rPr sz="2000" b="1">
                <a:solidFill>
                  <a:srgbClr val="2E7D87"/>
                </a:solidFill>
                <a:latin typeface="Calibri"/>
              </a:rPr>
              <a:t>STRUCTURAL
RECOMMENDATIONS</a:t>
            </a:r>
          </a:p>
          <a:p>
            <a:pPr algn="ctr"/>
            <a:r>
              <a:rPr sz="1800">
                <a:solidFill>
                  <a:srgbClr val="1A2744"/>
                </a:solidFill>
                <a:latin typeface="Calibri"/>
              </a:rPr>
              <a:t>Specific changes to how</a:t>
            </a:r>
          </a:p>
          <a:p>
            <a:pPr algn="ctr"/>
            <a:r>
              <a:rPr sz="1800">
                <a:solidFill>
                  <a:srgbClr val="1A2744"/>
                </a:solidFill>
                <a:latin typeface="Calibri"/>
              </a:rPr>
              <a:t>the environment is designed</a:t>
            </a:r>
          </a:p>
          <a:p>
            <a:pPr algn="ctr"/>
            <a:r>
              <a:rPr sz="1800">
                <a:solidFill>
                  <a:srgbClr val="1A2744"/>
                </a:solidFill>
                <a:latin typeface="Calibri"/>
              </a:rPr>
              <a:t>Connected to what the</a:t>
            </a:r>
          </a:p>
          <a:p>
            <a:pPr algn="ctr"/>
            <a:r>
              <a:rPr sz="1800">
                <a:solidFill>
                  <a:srgbClr val="1A2744"/>
                </a:solidFill>
                <a:latin typeface="Calibri"/>
              </a:rPr>
              <a:t>assessment found</a:t>
            </a:r>
          </a:p>
        </p:txBody>
      </p:sp>
      <p:sp>
        <p:nvSpPr>
          <p:cNvPr id="6" name="TextBox 5"/>
          <p:cNvSpPr txBox="1"/>
          <p:nvPr/>
        </p:nvSpPr>
        <p:spPr>
          <a:xfrm>
            <a:off x="457200" y="6080760"/>
            <a:ext cx="11274552" cy="548640"/>
          </a:xfrm>
          <a:prstGeom prst="rect">
            <a:avLst/>
          </a:prstGeom>
          <a:noFill/>
        </p:spPr>
        <p:txBody>
          <a:bodyPr wrap="square">
            <a:spAutoFit/>
          </a:bodyPr>
          <a:lstStyle/>
          <a:p>
            <a:pPr algn="ctr"/>
            <a:r>
              <a:rPr sz="1800" b="0" i="1">
                <a:solidFill>
                  <a:srgbClr val="1A2744"/>
                </a:solidFill>
                <a:latin typeface="Calibri"/>
              </a:rPr>
              <a:t>You see the picture. You decide whether to continue.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94360"/>
          </a:xfrm>
          <a:prstGeom prst="rect">
            <a:avLst/>
          </a:prstGeom>
          <a:noFill/>
        </p:spPr>
        <p:txBody>
          <a:bodyPr wrap="square">
            <a:spAutoFit/>
          </a:bodyPr>
          <a:lstStyle/>
          <a:p>
            <a:pPr algn="l"/>
            <a:r>
              <a:rPr sz="3400" b="1" i="0">
                <a:solidFill>
                  <a:srgbClr val="1A2744"/>
                </a:solidFill>
                <a:latin typeface="Calibri"/>
              </a:rPr>
              <a:t>When you see what.</a:t>
            </a:r>
          </a:p>
        </p:txBody>
      </p:sp>
      <p:sp>
        <p:nvSpPr>
          <p:cNvPr id="3" name="Rectangle 2"/>
          <p:cNvSpPr/>
          <p:nvPr/>
        </p:nvSpPr>
        <p:spPr>
          <a:xfrm>
            <a:off x="1828800" y="3474720"/>
            <a:ext cx="8531352" cy="164592"/>
          </a:xfrm>
          <a:prstGeom prst="rect">
            <a:avLst/>
          </a:prstGeom>
          <a:solidFill>
            <a:srgbClr val="2E7D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796796" y="3273552"/>
            <a:ext cx="64008" cy="566928"/>
          </a:xfrm>
          <a:prstGeom prst="rect">
            <a:avLst/>
          </a:prstGeom>
          <a:solidFill>
            <a:srgbClr val="1A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2286000" cy="365760"/>
          </a:xfrm>
          <a:prstGeom prst="rect">
            <a:avLst/>
          </a:prstGeom>
          <a:noFill/>
        </p:spPr>
        <p:txBody>
          <a:bodyPr wrap="square">
            <a:spAutoFit/>
          </a:bodyPr>
          <a:lstStyle/>
          <a:p>
            <a:pPr algn="ctr"/>
            <a:r>
              <a:rPr sz="1800" b="1" i="0">
                <a:solidFill>
                  <a:srgbClr val="2E7D87"/>
                </a:solidFill>
                <a:latin typeface="Calibri"/>
              </a:rPr>
              <a:t>Week 13</a:t>
            </a:r>
          </a:p>
        </p:txBody>
      </p:sp>
      <p:sp>
        <p:nvSpPr>
          <p:cNvPr id="6" name="TextBox 5"/>
          <p:cNvSpPr txBox="1"/>
          <p:nvPr/>
        </p:nvSpPr>
        <p:spPr>
          <a:xfrm>
            <a:off x="685800" y="1554480"/>
            <a:ext cx="2286000" cy="384048"/>
          </a:xfrm>
          <a:prstGeom prst="rect">
            <a:avLst/>
          </a:prstGeom>
          <a:noFill/>
        </p:spPr>
        <p:txBody>
          <a:bodyPr wrap="square">
            <a:spAutoFit/>
          </a:bodyPr>
          <a:lstStyle/>
          <a:p>
            <a:pPr algn="ctr"/>
            <a:r>
              <a:rPr sz="1500" b="1" i="0">
                <a:solidFill>
                  <a:srgbClr val="1A2744"/>
                </a:solidFill>
                <a:latin typeface="Calibri"/>
              </a:rPr>
              <a:t>PHASE 1 COMPLETE</a:t>
            </a:r>
          </a:p>
        </p:txBody>
      </p:sp>
      <p:sp>
        <p:nvSpPr>
          <p:cNvPr id="7" name="TextBox 6"/>
          <p:cNvSpPr txBox="1"/>
          <p:nvPr/>
        </p:nvSpPr>
        <p:spPr>
          <a:xfrm>
            <a:off x="685800" y="2011680"/>
            <a:ext cx="2286000" cy="777240"/>
          </a:xfrm>
          <a:prstGeom prst="rect">
            <a:avLst/>
          </a:prstGeom>
          <a:noFill/>
        </p:spPr>
        <p:txBody>
          <a:bodyPr wrap="square">
            <a:spAutoFit/>
          </a:bodyPr>
          <a:lstStyle/>
          <a:p>
            <a:pPr algn="ctr"/>
            <a:r>
              <a:rPr sz="1400" b="0" i="0">
                <a:solidFill>
                  <a:srgbClr val="1A2744"/>
                </a:solidFill>
                <a:latin typeface="Calibri"/>
              </a:rPr>
              <a:t>Assessment findings +
structural recommendations delivered</a:t>
            </a:r>
          </a:p>
        </p:txBody>
      </p:sp>
      <p:sp>
        <p:nvSpPr>
          <p:cNvPr id="8" name="Rectangle 7"/>
          <p:cNvSpPr/>
          <p:nvPr/>
        </p:nvSpPr>
        <p:spPr>
          <a:xfrm>
            <a:off x="4640580" y="3273552"/>
            <a:ext cx="64008" cy="566928"/>
          </a:xfrm>
          <a:prstGeom prst="rect">
            <a:avLst/>
          </a:prstGeom>
          <a:solidFill>
            <a:srgbClr val="1A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9584" y="3886200"/>
            <a:ext cx="2286000" cy="365760"/>
          </a:xfrm>
          <a:prstGeom prst="rect">
            <a:avLst/>
          </a:prstGeom>
          <a:noFill/>
        </p:spPr>
        <p:txBody>
          <a:bodyPr wrap="square">
            <a:spAutoFit/>
          </a:bodyPr>
          <a:lstStyle/>
          <a:p>
            <a:pPr algn="ctr"/>
            <a:r>
              <a:rPr sz="1800" b="1" i="0">
                <a:solidFill>
                  <a:srgbClr val="2E7D87"/>
                </a:solidFill>
                <a:latin typeface="Calibri"/>
              </a:rPr>
              <a:t>60–90 Days</a:t>
            </a:r>
          </a:p>
        </p:txBody>
      </p:sp>
      <p:sp>
        <p:nvSpPr>
          <p:cNvPr id="10" name="TextBox 9"/>
          <p:cNvSpPr txBox="1"/>
          <p:nvPr/>
        </p:nvSpPr>
        <p:spPr>
          <a:xfrm>
            <a:off x="3529584" y="4343400"/>
            <a:ext cx="2286000" cy="384048"/>
          </a:xfrm>
          <a:prstGeom prst="rect">
            <a:avLst/>
          </a:prstGeom>
          <a:noFill/>
        </p:spPr>
        <p:txBody>
          <a:bodyPr wrap="square">
            <a:spAutoFit/>
          </a:bodyPr>
          <a:lstStyle/>
          <a:p>
            <a:pPr algn="ctr"/>
            <a:r>
              <a:rPr sz="1500" b="1" i="0">
                <a:solidFill>
                  <a:srgbClr val="1A2744"/>
                </a:solidFill>
                <a:latin typeface="Calibri"/>
              </a:rPr>
              <a:t>FIRST BEHAVIORAL SIGNALS</a:t>
            </a:r>
          </a:p>
        </p:txBody>
      </p:sp>
      <p:sp>
        <p:nvSpPr>
          <p:cNvPr id="11" name="TextBox 10"/>
          <p:cNvSpPr txBox="1"/>
          <p:nvPr/>
        </p:nvSpPr>
        <p:spPr>
          <a:xfrm>
            <a:off x="3529584" y="4800600"/>
            <a:ext cx="2286000" cy="777240"/>
          </a:xfrm>
          <a:prstGeom prst="rect">
            <a:avLst/>
          </a:prstGeom>
          <a:noFill/>
        </p:spPr>
        <p:txBody>
          <a:bodyPr wrap="square">
            <a:spAutoFit/>
          </a:bodyPr>
          <a:lstStyle/>
          <a:p>
            <a:pPr algn="ctr"/>
            <a:r>
              <a:rPr sz="1400" b="0" i="0">
                <a:solidFill>
                  <a:srgbClr val="1A2744"/>
                </a:solidFill>
                <a:latin typeface="Calibri"/>
              </a:rPr>
              <a:t>Managers functioning differently
under pressure
(if implementation proceeds)</a:t>
            </a:r>
          </a:p>
        </p:txBody>
      </p:sp>
      <p:sp>
        <p:nvSpPr>
          <p:cNvPr id="12" name="Rectangle 11"/>
          <p:cNvSpPr/>
          <p:nvPr/>
        </p:nvSpPr>
        <p:spPr>
          <a:xfrm>
            <a:off x="7484364" y="3273552"/>
            <a:ext cx="64008" cy="566928"/>
          </a:xfrm>
          <a:prstGeom prst="rect">
            <a:avLst/>
          </a:prstGeom>
          <a:solidFill>
            <a:srgbClr val="1A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051560"/>
            <a:ext cx="2286000" cy="365760"/>
          </a:xfrm>
          <a:prstGeom prst="rect">
            <a:avLst/>
          </a:prstGeom>
          <a:noFill/>
        </p:spPr>
        <p:txBody>
          <a:bodyPr wrap="square">
            <a:spAutoFit/>
          </a:bodyPr>
          <a:lstStyle/>
          <a:p>
            <a:pPr algn="ctr"/>
            <a:r>
              <a:rPr sz="1800" b="1" i="0">
                <a:solidFill>
                  <a:srgbClr val="2E7D87"/>
                </a:solidFill>
                <a:latin typeface="Calibri"/>
              </a:rPr>
              <a:t>6–12 Months</a:t>
            </a:r>
          </a:p>
        </p:txBody>
      </p:sp>
      <p:sp>
        <p:nvSpPr>
          <p:cNvPr id="14" name="TextBox 13"/>
          <p:cNvSpPr txBox="1"/>
          <p:nvPr/>
        </p:nvSpPr>
        <p:spPr>
          <a:xfrm>
            <a:off x="6373368" y="1554480"/>
            <a:ext cx="2286000" cy="384048"/>
          </a:xfrm>
          <a:prstGeom prst="rect">
            <a:avLst/>
          </a:prstGeom>
          <a:noFill/>
        </p:spPr>
        <p:txBody>
          <a:bodyPr wrap="square">
            <a:spAutoFit/>
          </a:bodyPr>
          <a:lstStyle/>
          <a:p>
            <a:pPr algn="ctr"/>
            <a:r>
              <a:rPr sz="1500" b="1" i="0">
                <a:solidFill>
                  <a:srgbClr val="1A2744"/>
                </a:solidFill>
                <a:latin typeface="Calibri"/>
              </a:rPr>
              <a:t>TURNOVER SHIFT</a:t>
            </a:r>
          </a:p>
        </p:txBody>
      </p:sp>
      <p:sp>
        <p:nvSpPr>
          <p:cNvPr id="15" name="TextBox 14"/>
          <p:cNvSpPr txBox="1"/>
          <p:nvPr/>
        </p:nvSpPr>
        <p:spPr>
          <a:xfrm>
            <a:off x="6373368" y="2011680"/>
            <a:ext cx="2286000" cy="777240"/>
          </a:xfrm>
          <a:prstGeom prst="rect">
            <a:avLst/>
          </a:prstGeom>
          <a:noFill/>
        </p:spPr>
        <p:txBody>
          <a:bodyPr wrap="square">
            <a:spAutoFit/>
          </a:bodyPr>
          <a:lstStyle/>
          <a:p>
            <a:pPr algn="ctr"/>
            <a:r>
              <a:rPr sz="1400" b="0" i="0">
                <a:solidFill>
                  <a:srgbClr val="1A2744"/>
                </a:solidFill>
                <a:latin typeface="Calibri"/>
              </a:rPr>
              <a:t>Measurable reduction
in departure rate</a:t>
            </a:r>
          </a:p>
        </p:txBody>
      </p:sp>
      <p:sp>
        <p:nvSpPr>
          <p:cNvPr id="16" name="Rectangle 15"/>
          <p:cNvSpPr/>
          <p:nvPr/>
        </p:nvSpPr>
        <p:spPr>
          <a:xfrm>
            <a:off x="10328148" y="3273552"/>
            <a:ext cx="64008" cy="566928"/>
          </a:xfrm>
          <a:prstGeom prst="rect">
            <a:avLst/>
          </a:prstGeom>
          <a:solidFill>
            <a:srgbClr val="1A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17152" y="3886200"/>
            <a:ext cx="2286000" cy="365760"/>
          </a:xfrm>
          <a:prstGeom prst="rect">
            <a:avLst/>
          </a:prstGeom>
          <a:noFill/>
        </p:spPr>
        <p:txBody>
          <a:bodyPr wrap="square">
            <a:spAutoFit/>
          </a:bodyPr>
          <a:lstStyle/>
          <a:p>
            <a:pPr algn="ctr"/>
            <a:r>
              <a:rPr sz="1800" b="1" i="0">
                <a:solidFill>
                  <a:srgbClr val="2E7D87"/>
                </a:solidFill>
                <a:latin typeface="Calibri"/>
              </a:rPr>
              <a:t>18+ Months</a:t>
            </a:r>
          </a:p>
        </p:txBody>
      </p:sp>
      <p:sp>
        <p:nvSpPr>
          <p:cNvPr id="18" name="TextBox 17"/>
          <p:cNvSpPr txBox="1"/>
          <p:nvPr/>
        </p:nvSpPr>
        <p:spPr>
          <a:xfrm>
            <a:off x="9217152" y="4343400"/>
            <a:ext cx="2286000" cy="384048"/>
          </a:xfrm>
          <a:prstGeom prst="rect">
            <a:avLst/>
          </a:prstGeom>
          <a:noFill/>
        </p:spPr>
        <p:txBody>
          <a:bodyPr wrap="square">
            <a:spAutoFit/>
          </a:bodyPr>
          <a:lstStyle/>
          <a:p>
            <a:pPr algn="ctr"/>
            <a:r>
              <a:rPr sz="1500" b="1" i="0">
                <a:solidFill>
                  <a:srgbClr val="1A2744"/>
                </a:solidFill>
                <a:latin typeface="Calibri"/>
              </a:rPr>
              <a:t>CULTURE THAT HOLDS</a:t>
            </a:r>
          </a:p>
        </p:txBody>
      </p:sp>
      <p:sp>
        <p:nvSpPr>
          <p:cNvPr id="19" name="TextBox 18"/>
          <p:cNvSpPr txBox="1"/>
          <p:nvPr/>
        </p:nvSpPr>
        <p:spPr>
          <a:xfrm>
            <a:off x="9217152" y="4800600"/>
            <a:ext cx="2286000" cy="777240"/>
          </a:xfrm>
          <a:prstGeom prst="rect">
            <a:avLst/>
          </a:prstGeom>
          <a:noFill/>
        </p:spPr>
        <p:txBody>
          <a:bodyPr wrap="square">
            <a:spAutoFit/>
          </a:bodyPr>
          <a:lstStyle/>
          <a:p>
            <a:pPr algn="ctr"/>
            <a:r>
              <a:rPr sz="1400" b="0" i="0">
                <a:solidFill>
                  <a:srgbClr val="1A2744"/>
                </a:solidFill>
                <a:latin typeface="Calibri"/>
              </a:rPr>
              <a:t>Norms self-transmitting to new
employees without you
maintaining it manually</a:t>
            </a:r>
          </a:p>
        </p:txBody>
      </p:sp>
      <p:sp>
        <p:nvSpPr>
          <p:cNvPr id="20" name="TextBox 19"/>
          <p:cNvSpPr txBox="1"/>
          <p:nvPr/>
        </p:nvSpPr>
        <p:spPr>
          <a:xfrm>
            <a:off x="457200" y="6080760"/>
            <a:ext cx="11274552" cy="548640"/>
          </a:xfrm>
          <a:prstGeom prst="rect">
            <a:avLst/>
          </a:prstGeom>
          <a:noFill/>
        </p:spPr>
        <p:txBody>
          <a:bodyPr wrap="square">
            <a:spAutoFit/>
          </a:bodyPr>
          <a:lstStyle/>
          <a:p>
            <a:pPr algn="ctr"/>
            <a:r>
              <a:rPr sz="1800" b="0" i="1">
                <a:solidFill>
                  <a:srgbClr val="1A2744"/>
                </a:solidFill>
                <a:latin typeface="Calibri"/>
              </a:rPr>
              <a:t>This isn't fast. What's faster is not doing it — and you've already seen what that costs.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94360"/>
          </a:xfrm>
          <a:prstGeom prst="rect">
            <a:avLst/>
          </a:prstGeom>
          <a:noFill/>
        </p:spPr>
        <p:txBody>
          <a:bodyPr wrap="square">
            <a:spAutoFit/>
          </a:bodyPr>
          <a:lstStyle/>
          <a:p>
            <a:pPr algn="l"/>
            <a:r>
              <a:rPr sz="3400" b="1" i="0">
                <a:solidFill>
                  <a:srgbClr val="1A2744"/>
                </a:solidFill>
                <a:latin typeface="Calibri"/>
              </a:rPr>
              <a:t>Before you introduce this to your team.</a:t>
            </a:r>
          </a:p>
        </p:txBody>
      </p:sp>
      <p:sp>
        <p:nvSpPr>
          <p:cNvPr id="3" name="Rectangle 2"/>
          <p:cNvSpPr/>
          <p:nvPr/>
        </p:nvSpPr>
        <p:spPr>
          <a:xfrm>
            <a:off x="6094476" y="1143000"/>
            <a:ext cx="22860" cy="45720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5029200" cy="502920"/>
          </a:xfrm>
          <a:prstGeom prst="rect">
            <a:avLst/>
          </a:prstGeom>
          <a:noFill/>
        </p:spPr>
        <p:txBody>
          <a:bodyPr wrap="square">
            <a:spAutoFit/>
          </a:bodyPr>
          <a:lstStyle/>
          <a:p>
            <a:pPr algn="ctr"/>
            <a:r>
              <a:rPr sz="2400" b="1" i="0">
                <a:solidFill>
                  <a:srgbClr val="2E7D87"/>
                </a:solidFill>
                <a:latin typeface="Calibri"/>
              </a:rPr>
              <a:t>What this is NOT</a:t>
            </a:r>
          </a:p>
        </p:txBody>
      </p:sp>
      <p:sp>
        <p:nvSpPr>
          <p:cNvPr id="5" name="TextBox 4"/>
          <p:cNvSpPr txBox="1"/>
          <p:nvPr/>
        </p:nvSpPr>
        <p:spPr>
          <a:xfrm>
            <a:off x="457200" y="1737360"/>
            <a:ext cx="5029200" cy="3840480"/>
          </a:xfrm>
          <a:prstGeom prst="rect">
            <a:avLst/>
          </a:prstGeom>
          <a:noFill/>
        </p:spPr>
        <p:txBody>
          <a:bodyPr wrap="square">
            <a:spAutoFit/>
          </a:bodyPr>
          <a:lstStyle/>
          <a:p>
            <a:pPr algn="ctr"/>
            <a:r>
              <a:rPr sz="2200" b="0" i="0">
                <a:solidFill>
                  <a:srgbClr val="1A2744"/>
                </a:solidFill>
                <a:latin typeface="Calibri"/>
              </a:rPr>
              <a:t>An evaluation of how they manage</a:t>
            </a:r>
          </a:p>
          <a:p>
            <a:pPr algn="ctr"/>
            <a:r>
              <a:rPr sz="2200" b="0" i="0">
                <a:solidFill>
                  <a:srgbClr val="1A2744"/>
                </a:solidFill>
                <a:latin typeface="Calibri"/>
              </a:rPr>
              <a:t>An HR audit or compliance review</a:t>
            </a:r>
          </a:p>
          <a:p>
            <a:pPr algn="ctr"/>
            <a:r>
              <a:rPr sz="2200" b="0" i="0">
                <a:solidFill>
                  <a:srgbClr val="1A2744"/>
                </a:solidFill>
                <a:latin typeface="Calibri"/>
              </a:rPr>
              <a:t>Individual data going to you</a:t>
            </a:r>
          </a:p>
          <a:p>
            <a:pPr algn="ctr"/>
            <a:r>
              <a:rPr sz="2200" b="0" i="0">
                <a:solidFill>
                  <a:srgbClr val="1A2744"/>
                </a:solidFill>
                <a:latin typeface="Calibri"/>
              </a:rPr>
              <a:t>Supervision by an outside person</a:t>
            </a:r>
          </a:p>
        </p:txBody>
      </p:sp>
      <p:sp>
        <p:nvSpPr>
          <p:cNvPr id="6" name="TextBox 5"/>
          <p:cNvSpPr txBox="1"/>
          <p:nvPr/>
        </p:nvSpPr>
        <p:spPr>
          <a:xfrm>
            <a:off x="6702552" y="1143000"/>
            <a:ext cx="5029200" cy="502920"/>
          </a:xfrm>
          <a:prstGeom prst="rect">
            <a:avLst/>
          </a:prstGeom>
          <a:noFill/>
        </p:spPr>
        <p:txBody>
          <a:bodyPr wrap="square">
            <a:spAutoFit/>
          </a:bodyPr>
          <a:lstStyle/>
          <a:p>
            <a:pPr algn="ctr"/>
            <a:r>
              <a:rPr sz="2400" b="1" i="0">
                <a:solidFill>
                  <a:srgbClr val="2E7D87"/>
                </a:solidFill>
                <a:latin typeface="Calibri"/>
              </a:rPr>
              <a:t>What this IS</a:t>
            </a:r>
          </a:p>
        </p:txBody>
      </p:sp>
      <p:sp>
        <p:nvSpPr>
          <p:cNvPr id="7" name="TextBox 6"/>
          <p:cNvSpPr txBox="1"/>
          <p:nvPr/>
        </p:nvSpPr>
        <p:spPr>
          <a:xfrm>
            <a:off x="6702552" y="1737360"/>
            <a:ext cx="5029200" cy="3840480"/>
          </a:xfrm>
          <a:prstGeom prst="rect">
            <a:avLst/>
          </a:prstGeom>
          <a:noFill/>
        </p:spPr>
        <p:txBody>
          <a:bodyPr wrap="square">
            <a:spAutoFit/>
          </a:bodyPr>
          <a:lstStyle/>
          <a:p>
            <a:pPr algn="ctr"/>
            <a:r>
              <a:rPr sz="2200" b="0" i="0">
                <a:solidFill>
                  <a:srgbClr val="1A2744"/>
                </a:solidFill>
                <a:latin typeface="Calibri"/>
              </a:rPr>
              <a:t>Private development — their data stays with them</a:t>
            </a:r>
          </a:p>
          <a:p>
            <a:pPr algn="ctr"/>
            <a:r>
              <a:rPr sz="2200" b="0" i="0">
                <a:solidFill>
                  <a:srgbClr val="1A2744"/>
                </a:solidFill>
                <a:latin typeface="Calibri"/>
              </a:rPr>
              <a:t>A picture of how the team functions collectively</a:t>
            </a:r>
          </a:p>
          <a:p>
            <a:pPr algn="ctr"/>
            <a:r>
              <a:rPr sz="2200" b="0" i="0">
                <a:solidFill>
                  <a:srgbClr val="1A2744"/>
                </a:solidFill>
                <a:latin typeface="Calibri"/>
              </a:rPr>
              <a:t>Tools to do their jobs better</a:t>
            </a:r>
          </a:p>
          <a:p>
            <a:pPr algn="ctr"/>
            <a:r>
              <a:rPr sz="2200" b="0" i="0">
                <a:solidFill>
                  <a:srgbClr val="1A2744"/>
                </a:solidFill>
                <a:latin typeface="Calibri"/>
              </a:rPr>
              <a:t>Built with them, not done to them</a:t>
            </a:r>
          </a:p>
        </p:txBody>
      </p:sp>
      <p:sp>
        <p:nvSpPr>
          <p:cNvPr id="8" name="TextBox 7"/>
          <p:cNvSpPr txBox="1"/>
          <p:nvPr/>
        </p:nvSpPr>
        <p:spPr>
          <a:xfrm>
            <a:off x="457200" y="6080760"/>
            <a:ext cx="11274552" cy="548640"/>
          </a:xfrm>
          <a:prstGeom prst="rect">
            <a:avLst/>
          </a:prstGeom>
          <a:noFill/>
        </p:spPr>
        <p:txBody>
          <a:bodyPr wrap="square">
            <a:spAutoFit/>
          </a:bodyPr>
          <a:lstStyle/>
          <a:p>
            <a:pPr algn="ctr"/>
            <a:r>
              <a:rPr sz="1800" b="0" i="1">
                <a:solidFill>
                  <a:srgbClr val="1A2744"/>
                </a:solidFill>
                <a:latin typeface="Calibri"/>
              </a:rPr>
              <a:t>Your managers are the most important part of what we build.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