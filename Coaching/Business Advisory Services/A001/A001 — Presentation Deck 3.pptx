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91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87"/>
                </a:solidFill>
                <a:latin typeface="Calibr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E7D87"/>
                </a:solidFill>
                <a:latin typeface="Calibri"/>
              </a:rPr>
              <a:t>STANDARD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46520" y="22860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E7D87"/>
                </a:solidFill>
                <a:latin typeface="Calibri"/>
              </a:rPr>
              <a:t>WHAT'S DIFFERENT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25312" y="137160"/>
            <a:ext cx="36576" cy="6492240"/>
          </a:xfrm>
          <a:prstGeom prst="rect">
            <a:avLst/>
          </a:prstGeom>
          <a:solidFill>
            <a:srgbClr val="2E7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57800" y="2788920"/>
            <a:ext cx="14447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2E7D87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96112"/>
            <a:ext cx="5212080" cy="5230368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2744"/>
                </a:solidFill>
                <a:latin typeface="Calibri"/>
              </a:rPr>
              <a:t>Changes knowledge</a:t>
            </a:r>
          </a:p>
          <a:p>
            <a:pPr algn="ctr"/>
            <a:r>
              <a:rPr sz="8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3000" b="0" i="0">
                <a:solidFill>
                  <a:srgbClr val="1A2744"/>
                </a:solidFill>
                <a:latin typeface="Calibri"/>
              </a:rPr>
              <a:t>↓</a:t>
            </a:r>
          </a:p>
          <a:p>
            <a:pPr algn="ctr"/>
            <a:r>
              <a:rPr sz="8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2400" b="0" i="0">
                <a:solidFill>
                  <a:srgbClr val="1A2744"/>
                </a:solidFill>
                <a:latin typeface="Calibri"/>
              </a:rPr>
              <a:t>Doesn't reach what</a:t>
            </a:r>
          </a:p>
          <a:p>
            <a:pPr algn="ctr"/>
            <a:r>
              <a:rPr sz="2400" b="0" i="0">
                <a:solidFill>
                  <a:srgbClr val="1A2744"/>
                </a:solidFill>
                <a:latin typeface="Calibri"/>
              </a:rPr>
              <a:t>produces the behavior</a:t>
            </a:r>
          </a:p>
          <a:p>
            <a:pPr algn="ctr"/>
            <a:r>
              <a:rPr sz="8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3000" b="0" i="0">
                <a:solidFill>
                  <a:srgbClr val="1A2744"/>
                </a:solidFill>
                <a:latin typeface="Calibri"/>
              </a:rPr>
              <a:t>↓</a:t>
            </a:r>
          </a:p>
          <a:p>
            <a:pPr algn="ctr"/>
            <a:r>
              <a:rPr sz="8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2400" b="0" i="0">
                <a:solidFill>
                  <a:srgbClr val="1A2744"/>
                </a:solidFill>
                <a:latin typeface="Calibri"/>
              </a:rPr>
              <a:t>Reverts in 30–90 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896112"/>
            <a:ext cx="5212080" cy="5230368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2744"/>
                </a:solidFill>
                <a:latin typeface="Calibri"/>
              </a:rPr>
              <a:t>Changes conditions</a:t>
            </a:r>
          </a:p>
          <a:p>
            <a:pPr algn="ctr"/>
            <a:r>
              <a:rPr sz="8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3000" b="0" i="0">
                <a:solidFill>
                  <a:srgbClr val="1A2744"/>
                </a:solidFill>
                <a:latin typeface="Calibri"/>
              </a:rPr>
              <a:t>↓</a:t>
            </a:r>
          </a:p>
          <a:p>
            <a:pPr algn="ctr"/>
            <a:r>
              <a:rPr sz="8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2400" b="0" i="0">
                <a:solidFill>
                  <a:srgbClr val="1A2744"/>
                </a:solidFill>
                <a:latin typeface="Calibri"/>
              </a:rPr>
              <a:t>Addresses what</a:t>
            </a:r>
          </a:p>
          <a:p>
            <a:pPr algn="ctr"/>
            <a:r>
              <a:rPr sz="2400" b="0" i="0">
                <a:solidFill>
                  <a:srgbClr val="1A2744"/>
                </a:solidFill>
                <a:latin typeface="Calibri"/>
              </a:rPr>
              <a:t>produces the behavior</a:t>
            </a:r>
          </a:p>
          <a:p>
            <a:pPr algn="ctr"/>
            <a:r>
              <a:rPr sz="8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3000" b="0" i="0">
                <a:solidFill>
                  <a:srgbClr val="1A2744"/>
                </a:solidFill>
                <a:latin typeface="Calibri"/>
              </a:rPr>
              <a:t>↓</a:t>
            </a:r>
          </a:p>
          <a:p>
            <a:pPr algn="ctr"/>
            <a:r>
              <a:rPr sz="8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2400" b="0" i="0">
                <a:solidFill>
                  <a:srgbClr val="1A2744"/>
                </a:solidFill>
                <a:latin typeface="Calibri"/>
              </a:rPr>
              <a:t>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6364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2744"/>
                </a:solidFill>
                <a:latin typeface="Calibri"/>
              </a:rPr>
              <a:t>The pattern is produced by the environment. Standard training doesn’t touch the environment.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91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87"/>
                </a:solidFill>
                <a:latin typeface="Calibr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2744"/>
                </a:solidFill>
                <a:latin typeface="Calibri"/>
              </a:rPr>
              <a:t>Why the same patterns keep showing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783183" y="960120"/>
            <a:ext cx="1920240" cy="3429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Structural</a:t>
            </a:r>
          </a:p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48559" y="2473451"/>
            <a:ext cx="365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D87"/>
                </a:solidFill>
                <a:latin typeface="Calibri"/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959455" y="960120"/>
            <a:ext cx="1920240" cy="3429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Manager</a:t>
            </a:r>
          </a:p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4831" y="2473451"/>
            <a:ext cx="365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D87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5727" y="960120"/>
            <a:ext cx="1920240" cy="3429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Employee</a:t>
            </a:r>
          </a:p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1103" y="2473451"/>
            <a:ext cx="365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D87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999" y="960120"/>
            <a:ext cx="1920240" cy="3429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What</a:t>
            </a:r>
          </a:p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You See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7375" y="2473451"/>
            <a:ext cx="365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D87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88271" y="960120"/>
            <a:ext cx="1920240" cy="3429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What</a:t>
            </a:r>
          </a:p>
          <a:p>
            <a:pPr algn="ctr"/>
            <a:r>
              <a:rPr sz="2400" b="1" i="0">
                <a:solidFill>
                  <a:srgbClr val="1A2744"/>
                </a:solidFill>
                <a:latin typeface="Calibri"/>
              </a:rPr>
              <a:t>It Costs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1999" y="448055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2744"/>
                </a:solidFill>
                <a:latin typeface="Calibri"/>
              </a:rPr>
              <a:t>conflict · avoidance</a:t>
            </a:r>
          </a:p>
          <a:p>
            <a:pPr algn="ctr"/>
            <a:r>
              <a:rPr sz="1600" b="0" i="0">
                <a:solidFill>
                  <a:srgbClr val="1A2744"/>
                </a:solidFill>
                <a:latin typeface="Calibri"/>
              </a:rPr>
              <a:t>turnover · inconsistency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8271" y="4480559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2744"/>
                </a:solidFill>
                <a:latin typeface="Calibri"/>
              </a:rPr>
              <a:t>$840K–$1.6M/year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26364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2744"/>
                </a:solidFill>
                <a:latin typeface="Calibri"/>
              </a:rPr>
              <a:t>Change the first three boxes. The last two change with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91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87"/>
                </a:solidFill>
                <a:latin typeface="Calibr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2744"/>
                </a:solidFill>
                <a:latin typeface="Calibri"/>
              </a:rPr>
              <a:t>400 employees   ×   ~75% annual turnover   =   ~300 replacements /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600" b="1" i="0">
                <a:solidFill>
                  <a:srgbClr val="2E7D87"/>
                </a:solidFill>
                <a:latin typeface="Calibri"/>
              </a:rPr>
              <a:t>$1,200,000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744"/>
                </a:solidFill>
                <a:latin typeface="Calibri"/>
              </a:rPr>
              <a:t>in annual replacement cost — before productivity loss, training drag, and guest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3429000"/>
            <a:ext cx="9601200" cy="36576"/>
          </a:xfrm>
          <a:prstGeom prst="rect">
            <a:avLst/>
          </a:prstGeom>
          <a:solidFill>
            <a:srgbClr val="2E7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744"/>
                </a:solidFill>
                <a:latin typeface="Calibri"/>
              </a:rPr>
              <a:t>Phase 1 investment: $28,000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1A2744"/>
                </a:solidFill>
                <a:latin typeface="Calibri"/>
              </a:rPr>
              <a:t>Recovered at a fraction of a percentage point of turnover reduction.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91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87"/>
                </a:solidFill>
                <a:latin typeface="Calibr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2744"/>
                </a:solidFill>
                <a:latin typeface="Calibri"/>
              </a:rPr>
              <a:t>At the end of Phase 1, you have three things.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27151" y="960120"/>
            <a:ext cx="356616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1A2744"/>
                </a:solidFill>
                <a:latin typeface="Calibri"/>
              </a:rPr>
              <a:t>BEHAVIORAL PROFILE</a:t>
            </a:r>
          </a:p>
          <a:p>
            <a:pPr algn="ctr"/>
            <a:r>
              <a:rPr sz="6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Per leader assessed</a:t>
            </a:r>
          </a:p>
          <a:p>
            <a:pPr algn="ctr"/>
            <a:r>
              <a:rPr sz="6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What their patterns are ·</a:t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What activates them ·</a:t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Their development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312767" y="960120"/>
            <a:ext cx="356616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1A2744"/>
                </a:solidFill>
                <a:latin typeface="Calibri"/>
              </a:rPr>
              <a:t>TEAM MAP</a:t>
            </a:r>
          </a:p>
          <a:p>
            <a:pPr algn="ctr"/>
            <a:r>
              <a:rPr sz="6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How the management team</a:t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functions collectively</a:t>
            </a:r>
          </a:p>
          <a:p>
            <a:pPr algn="ctr"/>
            <a:r>
              <a:rPr sz="6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What structural conditions</a:t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are contributing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8383" y="960120"/>
            <a:ext cx="356616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1A2744"/>
                </a:solidFill>
                <a:latin typeface="Calibri"/>
              </a:rPr>
              <a:t>STRUCTURAL</a:t>
            </a:r>
          </a:p>
          <a:p>
            <a:pPr algn="ctr"/>
            <a:r>
              <a:rPr sz="2200" b="1" i="0">
                <a:solidFill>
                  <a:srgbClr val="1A2744"/>
                </a:solidFill>
                <a:latin typeface="Calibri"/>
              </a:rPr>
              <a:t>RECOMMENDATIONS</a:t>
            </a:r>
          </a:p>
          <a:p>
            <a:pPr algn="ctr"/>
            <a:r>
              <a:rPr sz="6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Specific changes to how</a:t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the environment is designed</a:t>
            </a:r>
          </a:p>
          <a:p>
            <a:pPr algn="ctr"/>
            <a:r>
              <a:rPr sz="600" b="0" i="0">
                <a:solidFill>
                  <a:srgbClr val="1A2744"/>
                </a:solidFill>
                <a:latin typeface="Calibri"/>
              </a:rPr>
              <a:t/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Connected to what the</a:t>
            </a:r>
          </a:p>
          <a:p>
            <a:pPr algn="ctr"/>
            <a:r>
              <a:rPr sz="1900" b="0" i="0">
                <a:solidFill>
                  <a:srgbClr val="1A2744"/>
                </a:solidFill>
                <a:latin typeface="Calibri"/>
              </a:rPr>
              <a:t>assessment 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2744"/>
                </a:solidFill>
                <a:latin typeface="Calibri"/>
              </a:rPr>
              <a:t>You see the picture. You decide whether to continue.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91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87"/>
                </a:solidFill>
                <a:latin typeface="Calibr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2744"/>
                </a:solidFill>
                <a:latin typeface="Calibri"/>
              </a:rPr>
              <a:t>When you see what.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0835640" cy="128016"/>
          </a:xfrm>
          <a:prstGeom prst="rect">
            <a:avLst/>
          </a:prstGeom>
          <a:solidFill>
            <a:srgbClr val="2E7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3227832"/>
            <a:ext cx="73152" cy="256032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-320040" y="109728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E7D87"/>
                </a:solidFill>
                <a:latin typeface="Calibri"/>
              </a:rPr>
              <a:t>Week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320040" y="137160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744"/>
                </a:solidFill>
                <a:latin typeface="Calibri"/>
              </a:rPr>
              <a:t>PHASE 1</a:t>
            </a:r>
          </a:p>
          <a:p>
            <a:pPr algn="ctr"/>
            <a:r>
              <a:rPr sz="1800" b="1" i="0">
                <a:solidFill>
                  <a:srgbClr val="1A2744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20040" y="1901952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Assessment findings +</a:t>
            </a:r>
          </a:p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structural recommendations</a:t>
            </a:r>
          </a:p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delivered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6824" y="3227832"/>
            <a:ext cx="73152" cy="256032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E7D87"/>
                </a:solidFill>
                <a:latin typeface="Calibri"/>
              </a:rPr>
              <a:t>60–90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3822191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744"/>
                </a:solidFill>
                <a:latin typeface="Calibri"/>
              </a:rPr>
              <a:t>FIRST BEHAVIORAL</a:t>
            </a:r>
          </a:p>
          <a:p>
            <a:pPr algn="ctr"/>
            <a:r>
              <a:rPr sz="1800" b="1" i="0">
                <a:solidFill>
                  <a:srgbClr val="1A2744"/>
                </a:solidFill>
                <a:latin typeface="Calibri"/>
              </a:rPr>
              <a:t>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16552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Managers functioning differently</a:t>
            </a:r>
          </a:p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under pressure</a:t>
            </a:r>
          </a:p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(if implementation proceeds)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81544" y="3227832"/>
            <a:ext cx="73152" cy="256032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09728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E7D87"/>
                </a:solidFill>
                <a:latin typeface="Calibri"/>
              </a:rPr>
              <a:t>6–12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37160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744"/>
                </a:solidFill>
                <a:latin typeface="Calibri"/>
              </a:rPr>
              <a:t>TURNOVER</a:t>
            </a:r>
          </a:p>
          <a:p>
            <a:pPr algn="ctr"/>
            <a:r>
              <a:rPr sz="1800" b="1" i="0">
                <a:solidFill>
                  <a:srgbClr val="1A2744"/>
                </a:solidFill>
                <a:latin typeface="Calibri"/>
              </a:rPr>
              <a:t>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1901952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Measurable reduction</a:t>
            </a:r>
          </a:p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in departure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56264" y="3227832"/>
            <a:ext cx="73152" cy="256032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04119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E7D87"/>
                </a:solidFill>
                <a:latin typeface="Calibri"/>
              </a:rPr>
              <a:t>18+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19" y="3822191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744"/>
                </a:solidFill>
                <a:latin typeface="Calibri"/>
              </a:rPr>
              <a:t>CULTURE</a:t>
            </a:r>
          </a:p>
          <a:p>
            <a:pPr algn="ctr"/>
            <a:r>
              <a:rPr sz="1800" b="1" i="0">
                <a:solidFill>
                  <a:srgbClr val="1A2744"/>
                </a:solidFill>
                <a:latin typeface="Calibri"/>
              </a:rPr>
              <a:t>THAT HOLDS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19" y="4416552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Norms self-transmitting to new</a:t>
            </a:r>
          </a:p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employees without you</a:t>
            </a:r>
          </a:p>
          <a:p>
            <a:pPr algn="ctr"/>
            <a:r>
              <a:rPr sz="1500" b="0" i="0">
                <a:solidFill>
                  <a:srgbClr val="1A2744"/>
                </a:solidFill>
                <a:latin typeface="Calibri"/>
              </a:rPr>
              <a:t>maintaining it manually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26364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2744"/>
                </a:solidFill>
                <a:latin typeface="Calibri"/>
              </a:rPr>
              <a:t>This isn’t fast. What’s faster is not doing it — and you’ve already seen what that costs.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91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87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2744"/>
                </a:solidFill>
                <a:latin typeface="Calibri"/>
              </a:rPr>
              <a:t>Before you introduce this to your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07608" y="822960"/>
            <a:ext cx="36576" cy="5577840"/>
          </a:xfrm>
          <a:prstGeom prst="rect">
            <a:avLst/>
          </a:prstGeom>
          <a:solidFill>
            <a:srgbClr val="2E7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E7D87"/>
                </a:solidFill>
                <a:latin typeface="Calibri"/>
              </a:rPr>
              <a:t>What this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896112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E7D87"/>
                </a:solidFill>
                <a:latin typeface="Calibri"/>
              </a:rPr>
              <a:t>What this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72768"/>
            <a:ext cx="52578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An evaluation of how they manage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42032"/>
            <a:ext cx="52578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An HR audit or compliance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52578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Individual data going to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80560"/>
            <a:ext cx="52578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Supervision by an outside person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572768"/>
            <a:ext cx="557784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Private development —</a:t>
            </a:r>
          </a:p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their data stays with them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542032"/>
            <a:ext cx="557784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A picture of how the team</a:t>
            </a:r>
          </a:p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functions collectively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11296"/>
            <a:ext cx="557784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Tools to do their jobs better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480560"/>
            <a:ext cx="557784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2744"/>
                </a:solidFill>
                <a:latin typeface="Calibri"/>
              </a:rPr>
              <a:t>Built with them, not done to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26364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2744"/>
                </a:solidFill>
                <a:latin typeface="Calibri"/>
              </a:rPr>
              <a:t>Your managers are the most important part of what we build.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