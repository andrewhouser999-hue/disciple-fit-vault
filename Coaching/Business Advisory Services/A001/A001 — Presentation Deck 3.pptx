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normalViewPr>
    <p:restoredLeft sz="15620" autoAdjust="0"/>
    <p:restoredTop sz="62000" autoAdjust="0"/>
  </p:normalVie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already named this — you identified at [coffee shop] that the behavior is coming from the environment, not the character of your people. That's exactly right, and it's also why what you've tried hasn't held. Standard training changes what people know. It doesn't touch the conditions that produced the behavior in the first place. When your manager walks back into the same environment, the same conditions produce the same result. What's different here is the level of the intervention. We work where the pattern is actually made."</a:t>
            </a:r>
          </a:p>
          <a:p/>
          <a:p>
            <a:r>
              <a:t>Deploy when: Owner mentions prior training that failed, OR asks "why does this keep happening?"</a:t>
            </a:r>
          </a:p>
          <a:p>
            <a:r>
              <a:t>Duration: 60–75 seconds</a:t>
            </a:r>
          </a:p>
          <a:p>
            <a:r>
              <a:t>Put away when: Owner acknowledges the distinction — any verbal signal that it landed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same situations keep producing the same results. Structural conditions in the operation — how authority flows, how mistakes get handled, how much clarity people have — shape how your managers experience the environment every day. That shapes how your managers show up with their teams. That shapes what your employees experience. And what you're watching is in the fourth box. What it's costing you is the fifth. You've been focused on boxes four and five. The work is in the first three."</a:t>
            </a:r>
          </a:p>
          <a:p/>
          <a:p>
            <a:r>
              <a:t>Deploy when: Owner asks HOW environment produces behavior; OR after describing a specific incident</a:t>
            </a:r>
          </a:p>
          <a:p>
            <a:r>
              <a:t>Duration: 75–90 seconds</a:t>
            </a:r>
          </a:p>
          <a:p>
            <a:r>
              <a:t>Put away when: Owner can place what he described in the chain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your scale, roughly 300 replacements a year. At $3,000 to $5,000 per replacement — that's the conservative range for hospitality — you're at $1.2 million annually, before you factor in the productivity gap while a position is vacant, the ramp time on a new hire, or what constant turnover does to the guest experience. The Phase 1 investment is $28,000. If turnover drops even two or three percent, it's paid for before you'd feel it. The question isn't whether you can afford to do this. You've already been paying for not doing it."</a:t>
            </a:r>
          </a:p>
          <a:p/>
          <a:p>
            <a:r>
              <a:t>Deploy when: Owner raises cost or asks about pricing; OR making the investment case before Phase 1</a:t>
            </a:r>
          </a:p>
          <a:p>
            <a:r>
              <a:t>Duration: 60 seconds</a:t>
            </a:r>
          </a:p>
          <a:p>
            <a:r>
              <a:t>Put away when: Owner has reacted to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deliverables at the end of Phase 1. A behavioral profile for each leader — what their patterns are, what activates them, what development would actually move them. A team map — how this management group functions collectively, and what structural conditions are contributing to what you're seeing. And specific structural recommendations — not general improvements, but changes connected to what the assessment actually found. Phase 1 gives you the picture. At the end of it, you decide whether you want to move to implementation. That's a deliberate structure — you're not committing to a full engagement on trust. You're committing to clarity first."</a:t>
            </a:r>
          </a:p>
          <a:p/>
          <a:p>
            <a:r>
              <a:t>Deploy when: Owner asks "what do I actually get?" or "what are the deliverables?"</a:t>
            </a:r>
          </a:p>
          <a:p>
            <a:r>
              <a:t>Duration: 75 seconds</a:t>
            </a:r>
          </a:p>
          <a:p>
            <a:r>
              <a:t>Put away when: Owner has processed all three boxes — "clarity first" signals the frame landed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13 weeks — assessment, interpretation, structural recommendations delivered. If you proceed to implementation, the first behavioral signals typically show up within 60 to 90 days — your managers functioning differently under pressure. Turnover shift follows at 6 to 12 months. A culture that sustains itself without you manually maintaining it — 18 months or more. I'm not going to tell you this is fast. What I will say is that you've already seen what fast gets you. Every training program that lasted 30 days was fast. This is different in kind, not just in content."</a:t>
            </a:r>
          </a:p>
          <a:p/>
          <a:p>
            <a:r>
              <a:t>Deploy when: Owner asks "how long before I see a difference?" or expresses timeline pressure</a:t>
            </a:r>
          </a:p>
          <a:p>
            <a:r>
              <a:t>Duration: 75 seconds</a:t>
            </a:r>
          </a:p>
          <a:p>
            <a:r>
              <a:t>Put away when: Owner acknowledges the timeline — "so Phase 1 is essentially this year..." signals it landed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bring this to your OMs, the first thing they'll want to know is what it means for them — whether they're being assessed, whether you'll have access to what they share. Here's the answer: their individual data stays with them. What you receive is the aggregate picture — how the team functions collectively and what the structure is contributing. That confidentiality isn't a courtesy — it's what makes honest assessment possible. An OM who's guarding what he says won't give you usable data. The protection is structural, not just a promise. Your managers are the lever here. They're not the problem — and how you introduce this will either confirm that or undo it."</a:t>
            </a:r>
          </a:p>
          <a:p/>
          <a:p>
            <a:r>
              <a:t>Deploy when: Close of meeting — owner surfaces OM question; OR Pivot 2 is raised</a:t>
            </a:r>
          </a:p>
          <a:p>
            <a:r>
              <a:t>Duration: 75–90 seconds</a:t>
            </a:r>
          </a:p>
          <a:p>
            <a:r>
              <a:t>Put away when: Owner has language for how to introduce Andrew to OMs — "so I'd say something like..." signals the frame landed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4476" y="822960"/>
            <a:ext cx="22860" cy="45720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an 2"/>
          <p:cNvSpPr/>
          <p:nvPr/>
        </p:nvSpPr>
        <p:spPr>
          <a:xfrm>
            <a:off x="5641848" y="3017520"/>
            <a:ext cx="905256" cy="411480"/>
          </a:xfrm>
          <a:prstGeom prst="can">
            <a:avLst/>
          </a:prstGeom>
          <a:solidFill>
            <a:srgbClr val="2E7D87"/>
          </a:solidFill>
          <a:ln>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22960"/>
            <a:ext cx="5029200" cy="502920"/>
          </a:xfrm>
          <a:prstGeom prst="rect">
            <a:avLst/>
          </a:prstGeom>
          <a:noFill/>
        </p:spPr>
        <p:txBody>
          <a:bodyPr wrap="square">
            <a:spAutoFit/>
          </a:bodyPr>
          <a:lstStyle/>
          <a:p>
            <a:pPr algn="ctr"/>
            <a:r>
              <a:rPr sz="2600" b="1" i="0">
                <a:solidFill>
                  <a:srgbClr val="1A2744"/>
                </a:solidFill>
                <a:latin typeface="Calibri"/>
              </a:rPr>
              <a:t>STANDARD APPROACH</a:t>
            </a:r>
          </a:p>
        </p:txBody>
      </p:sp>
      <p:sp>
        <p:nvSpPr>
          <p:cNvPr id="5" name="TextBox 4"/>
          <p:cNvSpPr txBox="1"/>
          <p:nvPr/>
        </p:nvSpPr>
        <p:spPr>
          <a:xfrm>
            <a:off x="457200" y="1463040"/>
            <a:ext cx="5029200" cy="3840480"/>
          </a:xfrm>
          <a:prstGeom prst="rect">
            <a:avLst/>
          </a:prstGeom>
          <a:noFill/>
        </p:spPr>
        <p:txBody>
          <a:bodyPr wrap="square">
            <a:spAutoFit/>
          </a:bodyPr>
          <a:lstStyle/>
          <a:p>
            <a:pPr algn="ctr"/>
            <a:r>
              <a:rPr sz="2200" b="0" i="0">
                <a:solidFill>
                  <a:srgbClr val="1A2744"/>
                </a:solidFill>
                <a:latin typeface="Calibri"/>
              </a:rPr>
              <a:t>Changes knowledge</a:t>
            </a:r>
          </a:p>
          <a:p>
            <a:pPr algn="ctr"/>
            <a:r>
              <a:rPr sz="2200" b="0" i="0">
                <a:solidFill>
                  <a:srgbClr val="1A2744"/>
                </a:solidFill>
                <a:latin typeface="Calibri"/>
              </a:rPr>
              <a:t>↓</a:t>
            </a:r>
          </a:p>
          <a:p>
            <a:pPr algn="ctr"/>
            <a:r>
              <a:rPr sz="2200" b="0" i="0">
                <a:solidFill>
                  <a:srgbClr val="1A2744"/>
                </a:solidFill>
                <a:latin typeface="Calibri"/>
              </a:rPr>
              <a:t>Doesn't reach what produces the behavior</a:t>
            </a:r>
          </a:p>
          <a:p>
            <a:pPr algn="ctr"/>
            <a:r>
              <a:rPr sz="2200" b="0" i="0">
                <a:solidFill>
                  <a:srgbClr val="1A2744"/>
                </a:solidFill>
                <a:latin typeface="Calibri"/>
              </a:rPr>
              <a:t>↓</a:t>
            </a:r>
          </a:p>
          <a:p>
            <a:pPr algn="ctr"/>
            <a:r>
              <a:rPr sz="2200" b="0" i="0">
                <a:solidFill>
                  <a:srgbClr val="1A2744"/>
                </a:solidFill>
                <a:latin typeface="Calibri"/>
              </a:rPr>
              <a:t>Reverts in 30–90 days</a:t>
            </a:r>
          </a:p>
        </p:txBody>
      </p:sp>
      <p:sp>
        <p:nvSpPr>
          <p:cNvPr id="6" name="TextBox 5"/>
          <p:cNvSpPr txBox="1"/>
          <p:nvPr/>
        </p:nvSpPr>
        <p:spPr>
          <a:xfrm>
            <a:off x="6702552" y="822960"/>
            <a:ext cx="5029200" cy="502920"/>
          </a:xfrm>
          <a:prstGeom prst="rect">
            <a:avLst/>
          </a:prstGeom>
          <a:noFill/>
        </p:spPr>
        <p:txBody>
          <a:bodyPr wrap="square">
            <a:spAutoFit/>
          </a:bodyPr>
          <a:lstStyle/>
          <a:p>
            <a:pPr algn="ctr"/>
            <a:r>
              <a:rPr sz="2600" b="1" i="0">
                <a:solidFill>
                  <a:srgbClr val="1A2744"/>
                </a:solidFill>
                <a:latin typeface="Calibri"/>
              </a:rPr>
              <a:t>WHAT'S DIFFERENT HERE</a:t>
            </a:r>
          </a:p>
        </p:txBody>
      </p:sp>
      <p:sp>
        <p:nvSpPr>
          <p:cNvPr id="7" name="TextBox 6"/>
          <p:cNvSpPr txBox="1"/>
          <p:nvPr/>
        </p:nvSpPr>
        <p:spPr>
          <a:xfrm>
            <a:off x="6702552" y="1463040"/>
            <a:ext cx="5029200" cy="3840480"/>
          </a:xfrm>
          <a:prstGeom prst="rect">
            <a:avLst/>
          </a:prstGeom>
          <a:noFill/>
        </p:spPr>
        <p:txBody>
          <a:bodyPr wrap="square">
            <a:spAutoFit/>
          </a:bodyPr>
          <a:lstStyle/>
          <a:p>
            <a:pPr algn="ctr"/>
            <a:r>
              <a:rPr sz="2200" b="0" i="0">
                <a:solidFill>
                  <a:srgbClr val="1A2744"/>
                </a:solidFill>
                <a:latin typeface="Calibri"/>
              </a:rPr>
              <a:t>Changes conditions</a:t>
            </a:r>
          </a:p>
          <a:p>
            <a:pPr algn="ctr"/>
            <a:r>
              <a:rPr sz="2200" b="0" i="0">
                <a:solidFill>
                  <a:srgbClr val="1A2744"/>
                </a:solidFill>
                <a:latin typeface="Calibri"/>
              </a:rPr>
              <a:t>↓</a:t>
            </a:r>
          </a:p>
          <a:p>
            <a:pPr algn="ctr"/>
            <a:r>
              <a:rPr sz="2200" b="0" i="0">
                <a:solidFill>
                  <a:srgbClr val="1A2744"/>
                </a:solidFill>
                <a:latin typeface="Calibri"/>
              </a:rPr>
              <a:t>Addresses what produces the behavior</a:t>
            </a:r>
          </a:p>
          <a:p>
            <a:pPr algn="ctr"/>
            <a:r>
              <a:rPr sz="2200" b="0" i="0">
                <a:solidFill>
                  <a:srgbClr val="1A2744"/>
                </a:solidFill>
                <a:latin typeface="Calibri"/>
              </a:rPr>
              <a:t>↓</a:t>
            </a:r>
          </a:p>
          <a:p>
            <a:pPr algn="ctr"/>
            <a:r>
              <a:rPr sz="2200" b="0" i="0">
                <a:solidFill>
                  <a:srgbClr val="1A2744"/>
                </a:solidFill>
                <a:latin typeface="Calibri"/>
              </a:rPr>
              <a:t>Holds</a:t>
            </a:r>
          </a:p>
        </p:txBody>
      </p:sp>
      <p:sp>
        <p:nvSpPr>
          <p:cNvPr id="8" name="TextBox 7"/>
          <p:cNvSpPr txBox="1"/>
          <p:nvPr/>
        </p:nvSpPr>
        <p:spPr>
          <a:xfrm>
            <a:off x="457200" y="6080760"/>
            <a:ext cx="11274552" cy="548640"/>
          </a:xfrm>
          <a:prstGeom prst="rect">
            <a:avLst/>
          </a:prstGeom>
          <a:noFill/>
        </p:spPr>
        <p:txBody>
          <a:bodyPr wrap="square">
            <a:spAutoFit/>
          </a:bodyPr>
          <a:lstStyle/>
          <a:p>
            <a:pPr algn="ctr"/>
            <a:r>
              <a:rPr sz="1800" b="0" i="1">
                <a:solidFill>
                  <a:srgbClr val="1A2744"/>
                </a:solidFill>
                <a:latin typeface="Calibri"/>
              </a:rPr>
              <a:t>The pattern is produced by the environment. Standard training doesn't touch the environment.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594360"/>
          </a:xfrm>
          <a:prstGeom prst="rect">
            <a:avLst/>
          </a:prstGeom>
          <a:noFill/>
        </p:spPr>
        <p:txBody>
          <a:bodyPr wrap="square">
            <a:spAutoFit/>
          </a:bodyPr>
          <a:lstStyle/>
          <a:p>
            <a:pPr algn="l"/>
            <a:r>
              <a:rPr sz="3400" b="1" i="0">
                <a:solidFill>
                  <a:srgbClr val="1A2744"/>
                </a:solidFill>
                <a:latin typeface="Calibri"/>
              </a:rPr>
              <a:t>Why the same patterns keep showing up</a:t>
            </a:r>
          </a:p>
        </p:txBody>
      </p:sp>
      <p:sp>
        <p:nvSpPr>
          <p:cNvPr id="3" name="Rectangle 2"/>
          <p:cNvSpPr/>
          <p:nvPr/>
        </p:nvSpPr>
        <p:spPr>
          <a:xfrm>
            <a:off x="457200" y="1188720"/>
            <a:ext cx="2050084" cy="1920240"/>
          </a:xfrm>
          <a:prstGeom prst="rect">
            <a:avLst/>
          </a:prstGeom>
          <a:solidFill>
            <a:srgbClr val="FFFFFF"/>
          </a:solidFill>
          <a:ln w="25400">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wrap="square" tIns="365760" lIns="45720" rIns="45720"/>
          <a:lstStyle/>
          <a:p>
            <a:pPr algn="ctr"/>
            <a:r>
              <a:rPr sz="1900" b="1">
                <a:solidFill>
                  <a:srgbClr val="1A2744"/>
                </a:solidFill>
                <a:latin typeface="Calibri"/>
              </a:rPr>
              <a:t>Structural
Conditions</a:t>
            </a:r>
          </a:p>
        </p:txBody>
      </p:sp>
      <p:sp>
        <p:nvSpPr>
          <p:cNvPr id="4" name="Can 3"/>
          <p:cNvSpPr/>
          <p:nvPr/>
        </p:nvSpPr>
        <p:spPr>
          <a:xfrm>
            <a:off x="2507284" y="1984248"/>
            <a:ext cx="256032" cy="329184"/>
          </a:xfrm>
          <a:prstGeom prst="can">
            <a:avLst/>
          </a:prstGeom>
          <a:solidFill>
            <a:srgbClr val="2E7D87"/>
          </a:solidFill>
          <a:ln>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63316" y="1188720"/>
            <a:ext cx="2050084" cy="1920240"/>
          </a:xfrm>
          <a:prstGeom prst="rect">
            <a:avLst/>
          </a:prstGeom>
          <a:solidFill>
            <a:srgbClr val="FFFFFF"/>
          </a:solidFill>
          <a:ln w="25400">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wrap="square" tIns="365760" lIns="45720" rIns="45720"/>
          <a:lstStyle/>
          <a:p>
            <a:pPr algn="ctr"/>
            <a:r>
              <a:rPr sz="1900" b="1">
                <a:solidFill>
                  <a:srgbClr val="1A2744"/>
                </a:solidFill>
                <a:latin typeface="Calibri"/>
              </a:rPr>
              <a:t>Manager
Experience</a:t>
            </a:r>
          </a:p>
        </p:txBody>
      </p:sp>
      <p:sp>
        <p:nvSpPr>
          <p:cNvPr id="6" name="Can 5"/>
          <p:cNvSpPr/>
          <p:nvPr/>
        </p:nvSpPr>
        <p:spPr>
          <a:xfrm>
            <a:off x="4813401" y="1984248"/>
            <a:ext cx="256032" cy="329184"/>
          </a:xfrm>
          <a:prstGeom prst="can">
            <a:avLst/>
          </a:prstGeom>
          <a:solidFill>
            <a:srgbClr val="2E7D87"/>
          </a:solidFill>
          <a:ln>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69433" y="1188720"/>
            <a:ext cx="2050084" cy="1920240"/>
          </a:xfrm>
          <a:prstGeom prst="rect">
            <a:avLst/>
          </a:prstGeom>
          <a:solidFill>
            <a:srgbClr val="FFFFFF"/>
          </a:solidFill>
          <a:ln w="25400">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wrap="square" tIns="365760" lIns="45720" rIns="45720"/>
          <a:lstStyle/>
          <a:p>
            <a:pPr algn="ctr"/>
            <a:r>
              <a:rPr sz="1900" b="1">
                <a:solidFill>
                  <a:srgbClr val="1A2744"/>
                </a:solidFill>
                <a:latin typeface="Calibri"/>
              </a:rPr>
              <a:t>Employee
Experience</a:t>
            </a:r>
          </a:p>
        </p:txBody>
      </p:sp>
      <p:sp>
        <p:nvSpPr>
          <p:cNvPr id="8" name="Can 7"/>
          <p:cNvSpPr/>
          <p:nvPr/>
        </p:nvSpPr>
        <p:spPr>
          <a:xfrm>
            <a:off x="7119518" y="1984248"/>
            <a:ext cx="256032" cy="329184"/>
          </a:xfrm>
          <a:prstGeom prst="can">
            <a:avLst/>
          </a:prstGeom>
          <a:solidFill>
            <a:srgbClr val="2E7D87"/>
          </a:solidFill>
          <a:ln>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75550" y="1188720"/>
            <a:ext cx="2050084" cy="1920240"/>
          </a:xfrm>
          <a:prstGeom prst="rect">
            <a:avLst/>
          </a:prstGeom>
          <a:solidFill>
            <a:srgbClr val="FFFFFF"/>
          </a:solidFill>
          <a:ln w="25400">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wrap="square" tIns="365760" lIns="45720" rIns="45720"/>
          <a:lstStyle/>
          <a:p>
            <a:pPr algn="ctr"/>
            <a:r>
              <a:rPr sz="1900" b="1">
                <a:solidFill>
                  <a:srgbClr val="1A2744"/>
                </a:solidFill>
                <a:latin typeface="Calibri"/>
              </a:rPr>
              <a:t>What
You See</a:t>
            </a:r>
          </a:p>
        </p:txBody>
      </p:sp>
      <p:sp>
        <p:nvSpPr>
          <p:cNvPr id="10" name="TextBox 9"/>
          <p:cNvSpPr txBox="1"/>
          <p:nvPr/>
        </p:nvSpPr>
        <p:spPr>
          <a:xfrm>
            <a:off x="7375550" y="3200400"/>
            <a:ext cx="2050084" cy="594360"/>
          </a:xfrm>
          <a:prstGeom prst="rect">
            <a:avLst/>
          </a:prstGeom>
          <a:noFill/>
        </p:spPr>
        <p:txBody>
          <a:bodyPr wrap="square">
            <a:spAutoFit/>
          </a:bodyPr>
          <a:lstStyle/>
          <a:p>
            <a:pPr algn="ctr"/>
            <a:r>
              <a:rPr sz="1500" b="0" i="1">
                <a:solidFill>
                  <a:srgbClr val="1A2744"/>
                </a:solidFill>
                <a:latin typeface="Calibri"/>
              </a:rPr>
              <a:t>conflict · avoidance
turnover · inconsistency</a:t>
            </a:r>
          </a:p>
        </p:txBody>
      </p:sp>
      <p:sp>
        <p:nvSpPr>
          <p:cNvPr id="11" name="Can 10"/>
          <p:cNvSpPr/>
          <p:nvPr/>
        </p:nvSpPr>
        <p:spPr>
          <a:xfrm>
            <a:off x="9425635" y="1984248"/>
            <a:ext cx="256032" cy="329184"/>
          </a:xfrm>
          <a:prstGeom prst="can">
            <a:avLst/>
          </a:prstGeom>
          <a:solidFill>
            <a:srgbClr val="2E7D87"/>
          </a:solidFill>
          <a:ln>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681667" y="1188720"/>
            <a:ext cx="2050084" cy="1920240"/>
          </a:xfrm>
          <a:prstGeom prst="rect">
            <a:avLst/>
          </a:prstGeom>
          <a:solidFill>
            <a:srgbClr val="FFFFFF"/>
          </a:solidFill>
          <a:ln w="25400">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wrap="square" tIns="365760" lIns="45720" rIns="45720"/>
          <a:lstStyle/>
          <a:p>
            <a:pPr algn="ctr"/>
            <a:r>
              <a:rPr sz="1900" b="1">
                <a:solidFill>
                  <a:srgbClr val="1A2744"/>
                </a:solidFill>
                <a:latin typeface="Calibri"/>
              </a:rPr>
              <a:t>What
It Costs</a:t>
            </a:r>
          </a:p>
        </p:txBody>
      </p:sp>
      <p:sp>
        <p:nvSpPr>
          <p:cNvPr id="13" name="TextBox 12"/>
          <p:cNvSpPr txBox="1"/>
          <p:nvPr/>
        </p:nvSpPr>
        <p:spPr>
          <a:xfrm>
            <a:off x="9681667" y="3200400"/>
            <a:ext cx="2050084" cy="594360"/>
          </a:xfrm>
          <a:prstGeom prst="rect">
            <a:avLst/>
          </a:prstGeom>
          <a:noFill/>
        </p:spPr>
        <p:txBody>
          <a:bodyPr wrap="square">
            <a:spAutoFit/>
          </a:bodyPr>
          <a:lstStyle/>
          <a:p>
            <a:pPr algn="ctr"/>
            <a:r>
              <a:rPr sz="1500" b="0" i="1">
                <a:solidFill>
                  <a:srgbClr val="1A2744"/>
                </a:solidFill>
                <a:latin typeface="Calibri"/>
              </a:rPr>
              <a:t>$840K–$1.6M/year</a:t>
            </a:r>
          </a:p>
        </p:txBody>
      </p:sp>
      <p:sp>
        <p:nvSpPr>
          <p:cNvPr id="14" name="TextBox 13"/>
          <p:cNvSpPr txBox="1"/>
          <p:nvPr/>
        </p:nvSpPr>
        <p:spPr>
          <a:xfrm>
            <a:off x="457200" y="6080760"/>
            <a:ext cx="11274552" cy="548640"/>
          </a:xfrm>
          <a:prstGeom prst="rect">
            <a:avLst/>
          </a:prstGeom>
          <a:noFill/>
        </p:spPr>
        <p:txBody>
          <a:bodyPr wrap="square">
            <a:spAutoFit/>
          </a:bodyPr>
          <a:lstStyle/>
          <a:p>
            <a:pPr algn="ctr"/>
            <a:r>
              <a:rPr sz="1800" b="0" i="1">
                <a:solidFill>
                  <a:srgbClr val="1A2744"/>
                </a:solidFill>
                <a:latin typeface="Calibri"/>
              </a:rPr>
              <a:t>Change the first three boxes. The last two change with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594360"/>
            <a:ext cx="11274552" cy="594360"/>
          </a:xfrm>
          <a:prstGeom prst="rect">
            <a:avLst/>
          </a:prstGeom>
          <a:noFill/>
        </p:spPr>
        <p:txBody>
          <a:bodyPr wrap="square">
            <a:spAutoFit/>
          </a:bodyPr>
          <a:lstStyle/>
          <a:p>
            <a:pPr algn="ctr"/>
            <a:r>
              <a:rPr sz="2600" b="0" i="0">
                <a:solidFill>
                  <a:srgbClr val="1A2744"/>
                </a:solidFill>
                <a:latin typeface="Calibri"/>
              </a:rPr>
              <a:t>400 employees   ×   ~75% annual turnover   =   ~300 replacements / year</a:t>
            </a:r>
          </a:p>
        </p:txBody>
      </p:sp>
      <p:sp>
        <p:nvSpPr>
          <p:cNvPr id="3" name="TextBox 2"/>
          <p:cNvSpPr txBox="1"/>
          <p:nvPr/>
        </p:nvSpPr>
        <p:spPr>
          <a:xfrm>
            <a:off x="457200" y="1417320"/>
            <a:ext cx="11274552" cy="1280160"/>
          </a:xfrm>
          <a:prstGeom prst="rect">
            <a:avLst/>
          </a:prstGeom>
          <a:noFill/>
        </p:spPr>
        <p:txBody>
          <a:bodyPr wrap="square">
            <a:spAutoFit/>
          </a:bodyPr>
          <a:lstStyle/>
          <a:p>
            <a:pPr algn="ctr"/>
            <a:r>
              <a:rPr sz="6400" b="1" i="0">
                <a:solidFill>
                  <a:srgbClr val="2E7D87"/>
                </a:solidFill>
                <a:latin typeface="Calibri"/>
              </a:rPr>
              <a:t>$1,200,000</a:t>
            </a:r>
          </a:p>
        </p:txBody>
      </p:sp>
      <p:sp>
        <p:nvSpPr>
          <p:cNvPr id="4" name="TextBox 3"/>
          <p:cNvSpPr txBox="1"/>
          <p:nvPr/>
        </p:nvSpPr>
        <p:spPr>
          <a:xfrm>
            <a:off x="457200" y="2788920"/>
            <a:ext cx="11274552" cy="594360"/>
          </a:xfrm>
          <a:prstGeom prst="rect">
            <a:avLst/>
          </a:prstGeom>
          <a:noFill/>
        </p:spPr>
        <p:txBody>
          <a:bodyPr wrap="square">
            <a:spAutoFit/>
          </a:bodyPr>
          <a:lstStyle/>
          <a:p>
            <a:pPr algn="ctr"/>
            <a:r>
              <a:rPr sz="2000" b="0" i="0">
                <a:solidFill>
                  <a:srgbClr val="1A2744"/>
                </a:solidFill>
                <a:latin typeface="Calibri"/>
              </a:rPr>
              <a:t>in annual replacement cost — before productivity loss, training drag, and guest experience</a:t>
            </a:r>
          </a:p>
        </p:txBody>
      </p:sp>
      <p:sp>
        <p:nvSpPr>
          <p:cNvPr id="5" name="Rectangle 4"/>
          <p:cNvSpPr/>
          <p:nvPr/>
        </p:nvSpPr>
        <p:spPr>
          <a:xfrm>
            <a:off x="457200" y="3611880"/>
            <a:ext cx="1127455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794760"/>
            <a:ext cx="11274552" cy="548640"/>
          </a:xfrm>
          <a:prstGeom prst="rect">
            <a:avLst/>
          </a:prstGeom>
          <a:noFill/>
        </p:spPr>
        <p:txBody>
          <a:bodyPr wrap="square">
            <a:spAutoFit/>
          </a:bodyPr>
          <a:lstStyle/>
          <a:p>
            <a:pPr algn="ctr"/>
            <a:r>
              <a:rPr sz="2800" b="1" i="0">
                <a:solidFill>
                  <a:srgbClr val="1A2744"/>
                </a:solidFill>
                <a:latin typeface="Calibri"/>
              </a:rPr>
              <a:t>Phase 1 investment: $28,000</a:t>
            </a:r>
          </a:p>
        </p:txBody>
      </p:sp>
      <p:sp>
        <p:nvSpPr>
          <p:cNvPr id="7" name="TextBox 6"/>
          <p:cNvSpPr txBox="1"/>
          <p:nvPr/>
        </p:nvSpPr>
        <p:spPr>
          <a:xfrm>
            <a:off x="457200" y="4434840"/>
            <a:ext cx="11274552" cy="548640"/>
          </a:xfrm>
          <a:prstGeom prst="rect">
            <a:avLst/>
          </a:prstGeom>
          <a:noFill/>
        </p:spPr>
        <p:txBody>
          <a:bodyPr wrap="square">
            <a:spAutoFit/>
          </a:bodyPr>
          <a:lstStyle/>
          <a:p>
            <a:pPr algn="ctr"/>
            <a:r>
              <a:rPr sz="2200" b="0" i="0">
                <a:solidFill>
                  <a:srgbClr val="1A2744"/>
                </a:solidFill>
                <a:latin typeface="Calibri"/>
              </a:rPr>
              <a:t>Recovered at a fraction of a percentage point of turnover reduction.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594360"/>
          </a:xfrm>
          <a:prstGeom prst="rect">
            <a:avLst/>
          </a:prstGeom>
          <a:noFill/>
        </p:spPr>
        <p:txBody>
          <a:bodyPr wrap="square">
            <a:spAutoFit/>
          </a:bodyPr>
          <a:lstStyle/>
          <a:p>
            <a:pPr algn="l"/>
            <a:r>
              <a:rPr sz="3400" b="1" i="0">
                <a:solidFill>
                  <a:srgbClr val="1A2744"/>
                </a:solidFill>
                <a:latin typeface="Calibri"/>
              </a:rPr>
              <a:t>At the end of Phase 1, you have three things.</a:t>
            </a:r>
          </a:p>
        </p:txBody>
      </p:sp>
      <p:sp>
        <p:nvSpPr>
          <p:cNvPr id="3" name="Rectangle 2"/>
          <p:cNvSpPr/>
          <p:nvPr/>
        </p:nvSpPr>
        <p:spPr>
          <a:xfrm>
            <a:off x="457200" y="1188720"/>
            <a:ext cx="3636264" cy="4389120"/>
          </a:xfrm>
          <a:prstGeom prst="rect">
            <a:avLst/>
          </a:prstGeom>
          <a:solidFill>
            <a:srgbClr val="FFFFFF"/>
          </a:solidFill>
          <a:ln w="19050">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09728"/>
          <a:lstStyle/>
          <a:p>
            <a:pPr algn="ctr"/>
            <a:r>
              <a:rPr sz="2000" b="1">
                <a:solidFill>
                  <a:srgbClr val="2E7D87"/>
                </a:solidFill>
                <a:latin typeface="Calibri"/>
              </a:rPr>
              <a:t>BEHAVIORAL PROFILE</a:t>
            </a:r>
          </a:p>
          <a:p>
            <a:pPr algn="ctr"/>
            <a:r>
              <a:rPr sz="1800">
                <a:solidFill>
                  <a:srgbClr val="1A2744"/>
                </a:solidFill>
                <a:latin typeface="Calibri"/>
              </a:rPr>
              <a:t>Per leader assessed</a:t>
            </a:r>
          </a:p>
          <a:p>
            <a:pPr algn="ctr"/>
            <a:r>
              <a:rPr sz="1800">
                <a:solidFill>
                  <a:srgbClr val="1A2744"/>
                </a:solidFill>
                <a:latin typeface="Calibri"/>
              </a:rPr>
              <a:t>What their patterns are</a:t>
            </a:r>
          </a:p>
          <a:p>
            <a:pPr algn="ctr"/>
            <a:r>
              <a:rPr sz="1800">
                <a:solidFill>
                  <a:srgbClr val="1A2744"/>
                </a:solidFill>
                <a:latin typeface="Calibri"/>
              </a:rPr>
              <a:t>What activates them</a:t>
            </a:r>
          </a:p>
          <a:p>
            <a:pPr algn="ctr"/>
            <a:r>
              <a:rPr sz="1800">
                <a:solidFill>
                  <a:srgbClr val="1A2744"/>
                </a:solidFill>
                <a:latin typeface="Calibri"/>
              </a:rPr>
              <a:t>Their development path</a:t>
            </a:r>
          </a:p>
        </p:txBody>
      </p:sp>
      <p:sp>
        <p:nvSpPr>
          <p:cNvPr id="4" name="Rectangle 3"/>
          <p:cNvSpPr/>
          <p:nvPr/>
        </p:nvSpPr>
        <p:spPr>
          <a:xfrm>
            <a:off x="4276344" y="1188720"/>
            <a:ext cx="3636264" cy="4389120"/>
          </a:xfrm>
          <a:prstGeom prst="rect">
            <a:avLst/>
          </a:prstGeom>
          <a:solidFill>
            <a:srgbClr val="FFFFFF"/>
          </a:solidFill>
          <a:ln w="19050">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09728"/>
          <a:lstStyle/>
          <a:p>
            <a:pPr algn="ctr"/>
            <a:r>
              <a:rPr sz="2000" b="1">
                <a:solidFill>
                  <a:srgbClr val="2E7D87"/>
                </a:solidFill>
                <a:latin typeface="Calibri"/>
              </a:rPr>
              <a:t>TEAM MAP</a:t>
            </a:r>
          </a:p>
          <a:p>
            <a:pPr algn="ctr"/>
            <a:r>
              <a:rPr sz="1800">
                <a:solidFill>
                  <a:srgbClr val="1A2744"/>
                </a:solidFill>
                <a:latin typeface="Calibri"/>
              </a:rPr>
              <a:t>How the management team</a:t>
            </a:r>
          </a:p>
          <a:p>
            <a:pPr algn="ctr"/>
            <a:r>
              <a:rPr sz="1800">
                <a:solidFill>
                  <a:srgbClr val="1A2744"/>
                </a:solidFill>
                <a:latin typeface="Calibri"/>
              </a:rPr>
              <a:t>functions collectively</a:t>
            </a:r>
          </a:p>
          <a:p>
            <a:pPr algn="ctr"/>
            <a:r>
              <a:rPr sz="1800">
                <a:solidFill>
                  <a:srgbClr val="1A2744"/>
                </a:solidFill>
                <a:latin typeface="Calibri"/>
              </a:rPr>
              <a:t>What structural conditions</a:t>
            </a:r>
          </a:p>
          <a:p>
            <a:pPr algn="ctr"/>
            <a:r>
              <a:rPr sz="1800">
                <a:solidFill>
                  <a:srgbClr val="1A2744"/>
                </a:solidFill>
                <a:latin typeface="Calibri"/>
              </a:rPr>
              <a:t>are contributing</a:t>
            </a:r>
          </a:p>
        </p:txBody>
      </p:sp>
      <p:sp>
        <p:nvSpPr>
          <p:cNvPr id="5" name="Rectangle 4"/>
          <p:cNvSpPr/>
          <p:nvPr/>
        </p:nvSpPr>
        <p:spPr>
          <a:xfrm>
            <a:off x="8095488" y="1188720"/>
            <a:ext cx="3636264" cy="4389120"/>
          </a:xfrm>
          <a:prstGeom prst="rect">
            <a:avLst/>
          </a:prstGeom>
          <a:solidFill>
            <a:srgbClr val="FFFFFF"/>
          </a:solidFill>
          <a:ln w="19050">
            <a:solidFill>
              <a:srgbClr val="2E7D8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109728"/>
          <a:lstStyle/>
          <a:p>
            <a:pPr algn="ctr"/>
            <a:r>
              <a:rPr sz="2000" b="1">
                <a:solidFill>
                  <a:srgbClr val="2E7D87"/>
                </a:solidFill>
                <a:latin typeface="Calibri"/>
              </a:rPr>
              <a:t>STRUCTURAL
RECOMMENDATIONS</a:t>
            </a:r>
          </a:p>
          <a:p>
            <a:pPr algn="ctr"/>
            <a:r>
              <a:rPr sz="1800">
                <a:solidFill>
                  <a:srgbClr val="1A2744"/>
                </a:solidFill>
                <a:latin typeface="Calibri"/>
              </a:rPr>
              <a:t>Specific changes to how</a:t>
            </a:r>
          </a:p>
          <a:p>
            <a:pPr algn="ctr"/>
            <a:r>
              <a:rPr sz="1800">
                <a:solidFill>
                  <a:srgbClr val="1A2744"/>
                </a:solidFill>
                <a:latin typeface="Calibri"/>
              </a:rPr>
              <a:t>the environment is designed</a:t>
            </a:r>
          </a:p>
          <a:p>
            <a:pPr algn="ctr"/>
            <a:r>
              <a:rPr sz="1800">
                <a:solidFill>
                  <a:srgbClr val="1A2744"/>
                </a:solidFill>
                <a:latin typeface="Calibri"/>
              </a:rPr>
              <a:t>Connected to what the</a:t>
            </a:r>
          </a:p>
          <a:p>
            <a:pPr algn="ctr"/>
            <a:r>
              <a:rPr sz="1800">
                <a:solidFill>
                  <a:srgbClr val="1A2744"/>
                </a:solidFill>
                <a:latin typeface="Calibri"/>
              </a:rPr>
              <a:t>assessment found</a:t>
            </a:r>
          </a:p>
        </p:txBody>
      </p:sp>
      <p:sp>
        <p:nvSpPr>
          <p:cNvPr id="6" name="TextBox 5"/>
          <p:cNvSpPr txBox="1"/>
          <p:nvPr/>
        </p:nvSpPr>
        <p:spPr>
          <a:xfrm>
            <a:off x="457200" y="6080760"/>
            <a:ext cx="11274552" cy="548640"/>
          </a:xfrm>
          <a:prstGeom prst="rect">
            <a:avLst/>
          </a:prstGeom>
          <a:noFill/>
        </p:spPr>
        <p:txBody>
          <a:bodyPr wrap="square">
            <a:spAutoFit/>
          </a:bodyPr>
          <a:lstStyle/>
          <a:p>
            <a:pPr algn="ctr"/>
            <a:r>
              <a:rPr sz="1800" b="0" i="1">
                <a:solidFill>
                  <a:srgbClr val="1A2744"/>
                </a:solidFill>
                <a:latin typeface="Calibri"/>
              </a:rPr>
              <a:t>You see the picture. You decide whether to continue.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594360"/>
          </a:xfrm>
          <a:prstGeom prst="rect">
            <a:avLst/>
          </a:prstGeom>
          <a:noFill/>
        </p:spPr>
        <p:txBody>
          <a:bodyPr wrap="square">
            <a:spAutoFit/>
          </a:bodyPr>
          <a:lstStyle/>
          <a:p>
            <a:pPr algn="l"/>
            <a:r>
              <a:rPr sz="3400" b="1" i="0">
                <a:solidFill>
                  <a:srgbClr val="1A2744"/>
                </a:solidFill>
                <a:latin typeface="Calibri"/>
              </a:rPr>
              <a:t>When you see what.</a:t>
            </a:r>
          </a:p>
        </p:txBody>
      </p:sp>
      <p:sp>
        <p:nvSpPr>
          <p:cNvPr id="3" name="Rectangle 2"/>
          <p:cNvSpPr/>
          <p:nvPr/>
        </p:nvSpPr>
        <p:spPr>
          <a:xfrm>
            <a:off x="1828800" y="3474720"/>
            <a:ext cx="8531352" cy="164592"/>
          </a:xfrm>
          <a:prstGeom prst="rect">
            <a:avLst/>
          </a:prstGeom>
          <a:solidFill>
            <a:srgbClr val="2E7D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796796" y="3273552"/>
            <a:ext cx="64008" cy="566928"/>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051560"/>
            <a:ext cx="2286000" cy="365760"/>
          </a:xfrm>
          <a:prstGeom prst="rect">
            <a:avLst/>
          </a:prstGeom>
          <a:noFill/>
        </p:spPr>
        <p:txBody>
          <a:bodyPr wrap="square">
            <a:spAutoFit/>
          </a:bodyPr>
          <a:lstStyle/>
          <a:p>
            <a:pPr algn="ctr"/>
            <a:r>
              <a:rPr sz="1800" b="1" i="0">
                <a:solidFill>
                  <a:srgbClr val="2E7D87"/>
                </a:solidFill>
                <a:latin typeface="Calibri"/>
              </a:rPr>
              <a:t>Week 13</a:t>
            </a:r>
          </a:p>
        </p:txBody>
      </p:sp>
      <p:sp>
        <p:nvSpPr>
          <p:cNvPr id="6" name="TextBox 5"/>
          <p:cNvSpPr txBox="1"/>
          <p:nvPr/>
        </p:nvSpPr>
        <p:spPr>
          <a:xfrm>
            <a:off x="685800" y="1554480"/>
            <a:ext cx="2286000" cy="384048"/>
          </a:xfrm>
          <a:prstGeom prst="rect">
            <a:avLst/>
          </a:prstGeom>
          <a:noFill/>
        </p:spPr>
        <p:txBody>
          <a:bodyPr wrap="square">
            <a:spAutoFit/>
          </a:bodyPr>
          <a:lstStyle/>
          <a:p>
            <a:pPr algn="ctr"/>
            <a:r>
              <a:rPr sz="1500" b="1" i="0">
                <a:solidFill>
                  <a:srgbClr val="1A2744"/>
                </a:solidFill>
                <a:latin typeface="Calibri"/>
              </a:rPr>
              <a:t>PHASE 1 COMPLETE</a:t>
            </a:r>
          </a:p>
        </p:txBody>
      </p:sp>
      <p:sp>
        <p:nvSpPr>
          <p:cNvPr id="7" name="TextBox 6"/>
          <p:cNvSpPr txBox="1"/>
          <p:nvPr/>
        </p:nvSpPr>
        <p:spPr>
          <a:xfrm>
            <a:off x="685800" y="2011680"/>
            <a:ext cx="2286000" cy="777240"/>
          </a:xfrm>
          <a:prstGeom prst="rect">
            <a:avLst/>
          </a:prstGeom>
          <a:noFill/>
        </p:spPr>
        <p:txBody>
          <a:bodyPr wrap="square">
            <a:spAutoFit/>
          </a:bodyPr>
          <a:lstStyle/>
          <a:p>
            <a:pPr algn="ctr"/>
            <a:r>
              <a:rPr sz="1400" b="0" i="0">
                <a:solidFill>
                  <a:srgbClr val="1A2744"/>
                </a:solidFill>
                <a:latin typeface="Calibri"/>
              </a:rPr>
              <a:t>Assessment findings +
structural recommendations delivered</a:t>
            </a:r>
          </a:p>
        </p:txBody>
      </p:sp>
      <p:sp>
        <p:nvSpPr>
          <p:cNvPr id="8" name="Rectangle 7"/>
          <p:cNvSpPr/>
          <p:nvPr/>
        </p:nvSpPr>
        <p:spPr>
          <a:xfrm>
            <a:off x="4640580" y="3273552"/>
            <a:ext cx="64008" cy="566928"/>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9584" y="3886200"/>
            <a:ext cx="2286000" cy="365760"/>
          </a:xfrm>
          <a:prstGeom prst="rect">
            <a:avLst/>
          </a:prstGeom>
          <a:noFill/>
        </p:spPr>
        <p:txBody>
          <a:bodyPr wrap="square">
            <a:spAutoFit/>
          </a:bodyPr>
          <a:lstStyle/>
          <a:p>
            <a:pPr algn="ctr"/>
            <a:r>
              <a:rPr sz="1800" b="1" i="0">
                <a:solidFill>
                  <a:srgbClr val="2E7D87"/>
                </a:solidFill>
                <a:latin typeface="Calibri"/>
              </a:rPr>
              <a:t>60–90 Days</a:t>
            </a:r>
          </a:p>
        </p:txBody>
      </p:sp>
      <p:sp>
        <p:nvSpPr>
          <p:cNvPr id="10" name="TextBox 9"/>
          <p:cNvSpPr txBox="1"/>
          <p:nvPr/>
        </p:nvSpPr>
        <p:spPr>
          <a:xfrm>
            <a:off x="3529584" y="4343400"/>
            <a:ext cx="2286000" cy="384048"/>
          </a:xfrm>
          <a:prstGeom prst="rect">
            <a:avLst/>
          </a:prstGeom>
          <a:noFill/>
        </p:spPr>
        <p:txBody>
          <a:bodyPr wrap="square">
            <a:spAutoFit/>
          </a:bodyPr>
          <a:lstStyle/>
          <a:p>
            <a:pPr algn="ctr"/>
            <a:r>
              <a:rPr sz="1500" b="1" i="0">
                <a:solidFill>
                  <a:srgbClr val="1A2744"/>
                </a:solidFill>
                <a:latin typeface="Calibri"/>
              </a:rPr>
              <a:t>FIRST BEHAVIORAL SIGNALS</a:t>
            </a:r>
          </a:p>
        </p:txBody>
      </p:sp>
      <p:sp>
        <p:nvSpPr>
          <p:cNvPr id="11" name="TextBox 10"/>
          <p:cNvSpPr txBox="1"/>
          <p:nvPr/>
        </p:nvSpPr>
        <p:spPr>
          <a:xfrm>
            <a:off x="3529584" y="4800600"/>
            <a:ext cx="2286000" cy="777240"/>
          </a:xfrm>
          <a:prstGeom prst="rect">
            <a:avLst/>
          </a:prstGeom>
          <a:noFill/>
        </p:spPr>
        <p:txBody>
          <a:bodyPr wrap="square">
            <a:spAutoFit/>
          </a:bodyPr>
          <a:lstStyle/>
          <a:p>
            <a:pPr algn="ctr"/>
            <a:r>
              <a:rPr sz="1400" b="0" i="0">
                <a:solidFill>
                  <a:srgbClr val="1A2744"/>
                </a:solidFill>
                <a:latin typeface="Calibri"/>
              </a:rPr>
              <a:t>Managers functioning differently
under pressure
(if implementation proceeds)</a:t>
            </a:r>
          </a:p>
        </p:txBody>
      </p:sp>
      <p:sp>
        <p:nvSpPr>
          <p:cNvPr id="12" name="Rectangle 11"/>
          <p:cNvSpPr/>
          <p:nvPr/>
        </p:nvSpPr>
        <p:spPr>
          <a:xfrm>
            <a:off x="7484364" y="3273552"/>
            <a:ext cx="64008" cy="566928"/>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051560"/>
            <a:ext cx="2286000" cy="365760"/>
          </a:xfrm>
          <a:prstGeom prst="rect">
            <a:avLst/>
          </a:prstGeom>
          <a:noFill/>
        </p:spPr>
        <p:txBody>
          <a:bodyPr wrap="square">
            <a:spAutoFit/>
          </a:bodyPr>
          <a:lstStyle/>
          <a:p>
            <a:pPr algn="ctr"/>
            <a:r>
              <a:rPr sz="1800" b="1" i="0">
                <a:solidFill>
                  <a:srgbClr val="2E7D87"/>
                </a:solidFill>
                <a:latin typeface="Calibri"/>
              </a:rPr>
              <a:t>6–12 Months</a:t>
            </a:r>
          </a:p>
        </p:txBody>
      </p:sp>
      <p:sp>
        <p:nvSpPr>
          <p:cNvPr id="14" name="TextBox 13"/>
          <p:cNvSpPr txBox="1"/>
          <p:nvPr/>
        </p:nvSpPr>
        <p:spPr>
          <a:xfrm>
            <a:off x="6373368" y="1554480"/>
            <a:ext cx="2286000" cy="384048"/>
          </a:xfrm>
          <a:prstGeom prst="rect">
            <a:avLst/>
          </a:prstGeom>
          <a:noFill/>
        </p:spPr>
        <p:txBody>
          <a:bodyPr wrap="square">
            <a:spAutoFit/>
          </a:bodyPr>
          <a:lstStyle/>
          <a:p>
            <a:pPr algn="ctr"/>
            <a:r>
              <a:rPr sz="1500" b="1" i="0">
                <a:solidFill>
                  <a:srgbClr val="1A2744"/>
                </a:solidFill>
                <a:latin typeface="Calibri"/>
              </a:rPr>
              <a:t>TURNOVER SHIFT</a:t>
            </a:r>
          </a:p>
        </p:txBody>
      </p:sp>
      <p:sp>
        <p:nvSpPr>
          <p:cNvPr id="15" name="TextBox 14"/>
          <p:cNvSpPr txBox="1"/>
          <p:nvPr/>
        </p:nvSpPr>
        <p:spPr>
          <a:xfrm>
            <a:off x="6373368" y="2011680"/>
            <a:ext cx="2286000" cy="777240"/>
          </a:xfrm>
          <a:prstGeom prst="rect">
            <a:avLst/>
          </a:prstGeom>
          <a:noFill/>
        </p:spPr>
        <p:txBody>
          <a:bodyPr wrap="square">
            <a:spAutoFit/>
          </a:bodyPr>
          <a:lstStyle/>
          <a:p>
            <a:pPr algn="ctr"/>
            <a:r>
              <a:rPr sz="1400" b="0" i="0">
                <a:solidFill>
                  <a:srgbClr val="1A2744"/>
                </a:solidFill>
                <a:latin typeface="Calibri"/>
              </a:rPr>
              <a:t>Measurable reduction
in departure rate</a:t>
            </a:r>
          </a:p>
        </p:txBody>
      </p:sp>
      <p:sp>
        <p:nvSpPr>
          <p:cNvPr id="16" name="Rectangle 15"/>
          <p:cNvSpPr/>
          <p:nvPr/>
        </p:nvSpPr>
        <p:spPr>
          <a:xfrm>
            <a:off x="10328148" y="3273552"/>
            <a:ext cx="64008" cy="566928"/>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17152" y="3886200"/>
            <a:ext cx="2286000" cy="365760"/>
          </a:xfrm>
          <a:prstGeom prst="rect">
            <a:avLst/>
          </a:prstGeom>
          <a:noFill/>
        </p:spPr>
        <p:txBody>
          <a:bodyPr wrap="square">
            <a:spAutoFit/>
          </a:bodyPr>
          <a:lstStyle/>
          <a:p>
            <a:pPr algn="ctr"/>
            <a:r>
              <a:rPr sz="1800" b="1" i="0">
                <a:solidFill>
                  <a:srgbClr val="2E7D87"/>
                </a:solidFill>
                <a:latin typeface="Calibri"/>
              </a:rPr>
              <a:t>18+ Months</a:t>
            </a:r>
          </a:p>
        </p:txBody>
      </p:sp>
      <p:sp>
        <p:nvSpPr>
          <p:cNvPr id="18" name="TextBox 17"/>
          <p:cNvSpPr txBox="1"/>
          <p:nvPr/>
        </p:nvSpPr>
        <p:spPr>
          <a:xfrm>
            <a:off x="9217152" y="4343400"/>
            <a:ext cx="2286000" cy="384048"/>
          </a:xfrm>
          <a:prstGeom prst="rect">
            <a:avLst/>
          </a:prstGeom>
          <a:noFill/>
        </p:spPr>
        <p:txBody>
          <a:bodyPr wrap="square">
            <a:spAutoFit/>
          </a:bodyPr>
          <a:lstStyle/>
          <a:p>
            <a:pPr algn="ctr"/>
            <a:r>
              <a:rPr sz="1500" b="1" i="0">
                <a:solidFill>
                  <a:srgbClr val="1A2744"/>
                </a:solidFill>
                <a:latin typeface="Calibri"/>
              </a:rPr>
              <a:t>CULTURE THAT HOLDS</a:t>
            </a:r>
          </a:p>
        </p:txBody>
      </p:sp>
      <p:sp>
        <p:nvSpPr>
          <p:cNvPr id="19" name="TextBox 18"/>
          <p:cNvSpPr txBox="1"/>
          <p:nvPr/>
        </p:nvSpPr>
        <p:spPr>
          <a:xfrm>
            <a:off x="9217152" y="4800600"/>
            <a:ext cx="2286000" cy="777240"/>
          </a:xfrm>
          <a:prstGeom prst="rect">
            <a:avLst/>
          </a:prstGeom>
          <a:noFill/>
        </p:spPr>
        <p:txBody>
          <a:bodyPr wrap="square">
            <a:spAutoFit/>
          </a:bodyPr>
          <a:lstStyle/>
          <a:p>
            <a:pPr algn="ctr"/>
            <a:r>
              <a:rPr sz="1400" b="0" i="0">
                <a:solidFill>
                  <a:srgbClr val="1A2744"/>
                </a:solidFill>
                <a:latin typeface="Calibri"/>
              </a:rPr>
              <a:t>Norms self-transmitting to new
employees without you
maintaining it manually</a:t>
            </a:r>
          </a:p>
        </p:txBody>
      </p:sp>
      <p:sp>
        <p:nvSpPr>
          <p:cNvPr id="20" name="TextBox 19"/>
          <p:cNvSpPr txBox="1"/>
          <p:nvPr/>
        </p:nvSpPr>
        <p:spPr>
          <a:xfrm>
            <a:off x="457200" y="6080760"/>
            <a:ext cx="11274552" cy="548640"/>
          </a:xfrm>
          <a:prstGeom prst="rect">
            <a:avLst/>
          </a:prstGeom>
          <a:noFill/>
        </p:spPr>
        <p:txBody>
          <a:bodyPr wrap="square">
            <a:spAutoFit/>
          </a:bodyPr>
          <a:lstStyle/>
          <a:p>
            <a:pPr algn="ctr"/>
            <a:r>
              <a:rPr sz="1800" b="0" i="1">
                <a:solidFill>
                  <a:srgbClr val="1A2744"/>
                </a:solidFill>
                <a:latin typeface="Calibri"/>
              </a:rPr>
              <a:t>This isn't fast. What's faster is not doing it — and you've already seen what that costs.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65760"/>
            <a:ext cx="11274552" cy="594360"/>
          </a:xfrm>
          <a:prstGeom prst="rect">
            <a:avLst/>
          </a:prstGeom>
          <a:noFill/>
        </p:spPr>
        <p:txBody>
          <a:bodyPr wrap="square">
            <a:spAutoFit/>
          </a:bodyPr>
          <a:lstStyle/>
          <a:p>
            <a:pPr algn="l"/>
            <a:r>
              <a:rPr sz="3400" b="1" i="0">
                <a:solidFill>
                  <a:srgbClr val="1A2744"/>
                </a:solidFill>
                <a:latin typeface="Calibri"/>
              </a:rPr>
              <a:t>Before you introduce this to your team.</a:t>
            </a:r>
          </a:p>
        </p:txBody>
      </p:sp>
      <p:sp>
        <p:nvSpPr>
          <p:cNvPr id="3" name="Rectangle 2"/>
          <p:cNvSpPr/>
          <p:nvPr/>
        </p:nvSpPr>
        <p:spPr>
          <a:xfrm>
            <a:off x="6094476" y="1143000"/>
            <a:ext cx="22860" cy="45720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43000"/>
            <a:ext cx="5029200" cy="502920"/>
          </a:xfrm>
          <a:prstGeom prst="rect">
            <a:avLst/>
          </a:prstGeom>
          <a:noFill/>
        </p:spPr>
        <p:txBody>
          <a:bodyPr wrap="square">
            <a:spAutoFit/>
          </a:bodyPr>
          <a:lstStyle/>
          <a:p>
            <a:pPr algn="ctr"/>
            <a:r>
              <a:rPr sz="2400" b="1" i="0">
                <a:solidFill>
                  <a:srgbClr val="2E7D87"/>
                </a:solidFill>
                <a:latin typeface="Calibri"/>
              </a:rPr>
              <a:t>What this is NOT</a:t>
            </a:r>
          </a:p>
        </p:txBody>
      </p:sp>
      <p:sp>
        <p:nvSpPr>
          <p:cNvPr id="5" name="TextBox 4"/>
          <p:cNvSpPr txBox="1"/>
          <p:nvPr/>
        </p:nvSpPr>
        <p:spPr>
          <a:xfrm>
            <a:off x="457200" y="1737360"/>
            <a:ext cx="5029200" cy="3840480"/>
          </a:xfrm>
          <a:prstGeom prst="rect">
            <a:avLst/>
          </a:prstGeom>
          <a:noFill/>
        </p:spPr>
        <p:txBody>
          <a:bodyPr wrap="square">
            <a:spAutoFit/>
          </a:bodyPr>
          <a:lstStyle/>
          <a:p>
            <a:pPr algn="ctr"/>
            <a:r>
              <a:rPr sz="2200" b="0" i="0">
                <a:solidFill>
                  <a:srgbClr val="1A2744"/>
                </a:solidFill>
                <a:latin typeface="Calibri"/>
              </a:rPr>
              <a:t>An evaluation of how they manage</a:t>
            </a:r>
          </a:p>
          <a:p>
            <a:pPr algn="ctr"/>
            <a:r>
              <a:rPr sz="2200" b="0" i="0">
                <a:solidFill>
                  <a:srgbClr val="1A2744"/>
                </a:solidFill>
                <a:latin typeface="Calibri"/>
              </a:rPr>
              <a:t>An HR audit or compliance review</a:t>
            </a:r>
          </a:p>
          <a:p>
            <a:pPr algn="ctr"/>
            <a:r>
              <a:rPr sz="2200" b="0" i="0">
                <a:solidFill>
                  <a:srgbClr val="1A2744"/>
                </a:solidFill>
                <a:latin typeface="Calibri"/>
              </a:rPr>
              <a:t>Individual data going to you</a:t>
            </a:r>
          </a:p>
          <a:p>
            <a:pPr algn="ctr"/>
            <a:r>
              <a:rPr sz="2200" b="0" i="0">
                <a:solidFill>
                  <a:srgbClr val="1A2744"/>
                </a:solidFill>
                <a:latin typeface="Calibri"/>
              </a:rPr>
              <a:t>Supervision by an outside person</a:t>
            </a:r>
          </a:p>
        </p:txBody>
      </p:sp>
      <p:sp>
        <p:nvSpPr>
          <p:cNvPr id="6" name="TextBox 5"/>
          <p:cNvSpPr txBox="1"/>
          <p:nvPr/>
        </p:nvSpPr>
        <p:spPr>
          <a:xfrm>
            <a:off x="6702552" y="1143000"/>
            <a:ext cx="5029200" cy="502920"/>
          </a:xfrm>
          <a:prstGeom prst="rect">
            <a:avLst/>
          </a:prstGeom>
          <a:noFill/>
        </p:spPr>
        <p:txBody>
          <a:bodyPr wrap="square">
            <a:spAutoFit/>
          </a:bodyPr>
          <a:lstStyle/>
          <a:p>
            <a:pPr algn="ctr"/>
            <a:r>
              <a:rPr sz="2400" b="1" i="0">
                <a:solidFill>
                  <a:srgbClr val="2E7D87"/>
                </a:solidFill>
                <a:latin typeface="Calibri"/>
              </a:rPr>
              <a:t>What this IS</a:t>
            </a:r>
          </a:p>
        </p:txBody>
      </p:sp>
      <p:sp>
        <p:nvSpPr>
          <p:cNvPr id="7" name="TextBox 6"/>
          <p:cNvSpPr txBox="1"/>
          <p:nvPr/>
        </p:nvSpPr>
        <p:spPr>
          <a:xfrm>
            <a:off x="6702552" y="1737360"/>
            <a:ext cx="5029200" cy="3840480"/>
          </a:xfrm>
          <a:prstGeom prst="rect">
            <a:avLst/>
          </a:prstGeom>
          <a:noFill/>
        </p:spPr>
        <p:txBody>
          <a:bodyPr wrap="square">
            <a:spAutoFit/>
          </a:bodyPr>
          <a:lstStyle/>
          <a:p>
            <a:pPr algn="ctr"/>
            <a:r>
              <a:rPr sz="2200" b="0" i="0">
                <a:solidFill>
                  <a:srgbClr val="1A2744"/>
                </a:solidFill>
                <a:latin typeface="Calibri"/>
              </a:rPr>
              <a:t>Private development — their data stays with them</a:t>
            </a:r>
          </a:p>
          <a:p>
            <a:pPr algn="ctr"/>
            <a:r>
              <a:rPr sz="2200" b="0" i="0">
                <a:solidFill>
                  <a:srgbClr val="1A2744"/>
                </a:solidFill>
                <a:latin typeface="Calibri"/>
              </a:rPr>
              <a:t>A picture of how the team functions collectively</a:t>
            </a:r>
          </a:p>
          <a:p>
            <a:pPr algn="ctr"/>
            <a:r>
              <a:rPr sz="2200" b="0" i="0">
                <a:solidFill>
                  <a:srgbClr val="1A2744"/>
                </a:solidFill>
                <a:latin typeface="Calibri"/>
              </a:rPr>
              <a:t>Tools to do their jobs better</a:t>
            </a:r>
          </a:p>
          <a:p>
            <a:pPr algn="ctr"/>
            <a:r>
              <a:rPr sz="2200" b="0" i="0">
                <a:solidFill>
                  <a:srgbClr val="1A2744"/>
                </a:solidFill>
                <a:latin typeface="Calibri"/>
              </a:rPr>
              <a:t>Built with them, not done to them</a:t>
            </a:r>
          </a:p>
        </p:txBody>
      </p:sp>
      <p:sp>
        <p:nvSpPr>
          <p:cNvPr id="8" name="TextBox 7"/>
          <p:cNvSpPr txBox="1"/>
          <p:nvPr/>
        </p:nvSpPr>
        <p:spPr>
          <a:xfrm>
            <a:off x="457200" y="6080760"/>
            <a:ext cx="11274552" cy="548640"/>
          </a:xfrm>
          <a:prstGeom prst="rect">
            <a:avLst/>
          </a:prstGeom>
          <a:noFill/>
        </p:spPr>
        <p:txBody>
          <a:bodyPr wrap="square">
            <a:spAutoFit/>
          </a:bodyPr>
          <a:lstStyle/>
          <a:p>
            <a:pPr algn="ctr"/>
            <a:r>
              <a:rPr sz="1800" b="0" i="1">
                <a:solidFill>
                  <a:srgbClr val="1A2744"/>
                </a:solidFill>
                <a:latin typeface="Calibri"/>
              </a:rPr>
              <a:t>Your managers are the most important part of what we build.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